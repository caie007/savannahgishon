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fa382e47-0fc1-6aca-de91-35f56a52b42d}">
          <p14:sldIdLst>
            <p14:sldId id="256"/>
          </p14:sldIdLst>
        </p14:section>
        <p14:section name="Part 1" id="{fead6c26-6d22-d39f-f73d-b3fbd4e7d171}">
          <p14:sldIdLst>
            <p14:sldId id="257"/>
            <p14:sldId id="258"/>
            <p14:sldId id="259"/>
          </p14:sldIdLst>
        </p14:section>
        <p14:section name="Part 2" id="{9499a8aa-ae3c-dc85-639d-509fb2b24bb0}">
          <p14:sldIdLst>
            <p14:sldId id="260"/>
            <p14:sldId id="261"/>
            <p14:sldId id="262"/>
            <p14:sldId id="263"/>
            <p14:sldId id="264"/>
            <p14:sldId id="265"/>
            <p14:sldId id="266"/>
            <p14:sldId id="267"/>
            <p14:sldId id="268"/>
          </p14:sldIdLst>
        </p14:section>
        <p14:section name="Close" id="{e6d4c35a-e22a-f68e-9a41-ee8ab351c13d}">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parts. Part 1 was data collection, quality and exploratory analysis on 2025. Part 2 is distributed MapReduce processing across 2024 and 2025 to answer one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37 GB, working 13.3, processing 5.55 — all three measured, not estimated. We used HTTP HEAD requests to size the full archive without downloading it, which takes about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judgement: we audited internal consistency rather than removing extremes. A long trip is not necessarily wrong; a dropoff before its pickup certainly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wait inversion is what drove the whole of Part 2. Longest waits at 4am, shortest at 10am. If road congestion were the constraint you would see the opposite.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question, three threads: congestion pricing, supply-side failure, and demand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Pre-aggregation is the practical core. 462 million rows reduce to 74 million, which fits comfortably in memory. Savannah read the same file for her demand work so we never ran the expensive shuffle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cleanest demonstration we have. Same answer, same data, two execution models. The RDD version moved less data across the network and was still six and a half times slower.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849 tasks, zero failures, 44 minutes of cumulative task time across 8 cores in 39 minutes wall clock. Event logging was on so the History Server can replay all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argued each contrast from the plan we actually produced. The Exchange node, the broadcast join, the skipped stages, the AQE coalescing.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finding we did not expect. We set out to measure a policy effect and found the decline predates the policy. Reporting that honestly is stronger than claiming an effect that does not survive the pre-trend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readings are true and they answer different questions. Do not let anyone collapse them into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mismatch index normalises by hour — wait in a zone-hour divided by the citywide mean for that same hour. Without normalising we would just rediscover that 4am is slow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Savannah's thread. Manhattan's share of pickups rises from 34.5% at low demand to 38.1% at high, while Queens falls — so demand growth concentrates rather than spreading.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sentence the whole project builds to. Service quality is a supply problem, and the one major policy intervention of 2025 made the gap slightly worse for the people already worst 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claims the evidence actually supports, and point at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055BAA"/>
        </a:solidFill>
      </p:bgPr>
    </p:bg>
    <p:spTree>
      <p:nvGrpSpPr>
        <p:cNvPr id="1" name=""/>
        <p:cNvGrpSpPr/>
        <p:nvPr/>
      </p:nvGrpSpPr>
      <p:grpSpPr>
        <a:xfrm>
          <a:off x="0" y="0"/>
          <a:ext cx="0" cy="0"/>
          <a:chOff x="0" y="0"/>
          <a:chExt cx="0" cy="0"/>
        </a:xfrm>
      </p:grpSpPr>
      <p:pic>
        <p:nvPicPr>
          <p:cNvPr id="2" name="Image 0" descr="/home/claude/deck/img/up_crest.png">    </p:cNvPr>
          <p:cNvPicPr>
            <a:picLocks noChangeAspect="1"/>
          </p:cNvPicPr>
          <p:nvPr/>
        </p:nvPicPr>
        <p:blipFill>
          <a:blip r:embed="rId1"/>
          <a:stretch>
            <a:fillRect/>
          </a:stretch>
        </p:blipFill>
        <p:spPr>
          <a:xfrm>
            <a:off x="10378440" y="411480"/>
            <a:ext cx="1234440" cy="1152144"/>
          </a:xfrm>
          <a:prstGeom prst="rect">
            <a:avLst/>
          </a:prstGeom>
        </p:spPr>
      </p:pic>
      <p:sp>
        <p:nvSpPr>
          <p:cNvPr id="3" name="Text 0"/>
          <p:cNvSpPr/>
          <p:nvPr>
            <p:ph idx="101" type="title" hasCustomPrompt="1"/>
          </p:nvPr>
        </p:nvSpPr>
        <p:spPr>
          <a:xfrm>
            <a:off x="777240" y="2240280"/>
            <a:ext cx="9235440" cy="173736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r>
              <a:rPr lang="en-US" sz="3800" b="1" dirty="0">
                <a:solidFill>
                  <a:schemeClr val="bg1"/>
                </a:solidFill>
              </a:rPr>
              <a:t> </a:t>
            </a:r>
            <a:endParaRPr lang="en-US" sz="3800" dirty="0"/>
          </a:p>
        </p:txBody>
      </p:sp>
      <p:sp>
        <p:nvSpPr>
          <p:cNvPr id="4" name="Text 0"/>
          <p:cNvSpPr/>
          <p:nvPr>
            <p:ph idx="102" type="body" hasCustomPrompt="1"/>
          </p:nvPr>
        </p:nvSpPr>
        <p:spPr>
          <a:xfrm>
            <a:off x="822960" y="4114800"/>
            <a:ext cx="10424160" cy="1463040"/>
          </a:xfrm>
          <a:prstGeom prst="rect">
            <a:avLst/>
          </a:prstGeom>
          <a:noFill/>
          <a:ln/>
        </p:spPr>
        <p:txBody>
          <a:bodyPr wrap="square" rtlCol="0"/>
          <a:lstStyle>
            <a:lvl1pPr indent="0" marL="0">
              <a:buNone/>
              <a:defRPr lang="en-US" sz="1500" dirty="0">
                <a:solidFill>
                  <a:srgbClr val="D3E4F4"/>
                </a:solidFill>
              </a:defRPr>
            </a:lvl1pPr>
          </a:lstStyle>
          <a:p>
            <a:pPr indent="0" marL="0">
              <a:buNone/>
            </a:pPr>
            <a:r>
              <a:rPr lang="en-US" sz="1500" dirty="0">
                <a:solidFill>
                  <a:srgbClr val="D3E4F4"/>
                </a:solidFill>
              </a:rPr>
              <a:t> </a:t>
            </a: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055BAA"/>
        </a:solidFill>
      </p:bgPr>
    </p:bg>
    <p:spTree>
      <p:nvGrpSpPr>
        <p:cNvPr id="1" name=""/>
        <p:cNvGrpSpPr/>
        <p:nvPr/>
      </p:nvGrpSpPr>
      <p:grpSpPr>
        <a:xfrm>
          <a:off x="0" y="0"/>
          <a:ext cx="0" cy="0"/>
          <a:chOff x="0" y="0"/>
          <a:chExt cx="0" cy="0"/>
        </a:xfrm>
      </p:grpSpPr>
      <p:pic>
        <p:nvPicPr>
          <p:cNvPr id="2" name="Image 0" descr="/home/claude/deck/img/up_crest.png">    </p:cNvPr>
          <p:cNvPicPr>
            <a:picLocks noChangeAspect="1"/>
          </p:cNvPicPr>
          <p:nvPr/>
        </p:nvPicPr>
        <p:blipFill>
          <a:blip r:embed="rId1"/>
          <a:stretch>
            <a:fillRect/>
          </a:stretch>
        </p:blipFill>
        <p:spPr>
          <a:xfrm>
            <a:off x="10424160" y="457200"/>
            <a:ext cx="1188720" cy="1106424"/>
          </a:xfrm>
          <a:prstGeom prst="rect">
            <a:avLst/>
          </a:prstGeom>
        </p:spPr>
      </p:pic>
      <p:sp>
        <p:nvSpPr>
          <p:cNvPr id="3" name="Text 0"/>
          <p:cNvSpPr/>
          <p:nvPr>
            <p:ph idx="101" type="title" hasCustomPrompt="1"/>
          </p:nvPr>
        </p:nvSpPr>
        <p:spPr>
          <a:xfrm>
            <a:off x="777240" y="2651760"/>
            <a:ext cx="9692640" cy="11887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r>
              <a:rPr lang="en-US" sz="3200" b="1" dirty="0">
                <a:solidFill>
                  <a:schemeClr val="bg1"/>
                </a:solidFill>
              </a:rPr>
              <a:t> </a:t>
            </a:r>
            <a:endParaRPr lang="en-US" sz="3200" dirty="0"/>
          </a:p>
        </p:txBody>
      </p:sp>
      <p:sp>
        <p:nvSpPr>
          <p:cNvPr id="4" name="Text 0"/>
          <p:cNvSpPr/>
          <p:nvPr>
            <p:ph idx="102" type="body" hasCustomPrompt="1"/>
          </p:nvPr>
        </p:nvSpPr>
        <p:spPr>
          <a:xfrm>
            <a:off x="822960" y="3886200"/>
            <a:ext cx="9692640" cy="1005840"/>
          </a:xfrm>
          <a:prstGeom prst="rect">
            <a:avLst/>
          </a:prstGeom>
          <a:noFill/>
          <a:ln/>
        </p:spPr>
        <p:txBody>
          <a:bodyPr wrap="square" rtlCol="0"/>
          <a:lstStyle>
            <a:lvl1pPr indent="0" marL="0">
              <a:buNone/>
              <a:defRPr lang="en-US" sz="1500" dirty="0">
                <a:solidFill>
                  <a:srgbClr val="D3E4F4"/>
                </a:solidFill>
              </a:defRPr>
            </a:lvl1pPr>
          </a:lstStyle>
          <a:p>
            <a:pPr indent="0" marL="0">
              <a:buNone/>
            </a:pPr>
            <a:r>
              <a:rPr lang="en-US" sz="1500" dirty="0">
                <a:solidFill>
                  <a:srgbClr val="D3E4F4"/>
                </a:solidFill>
              </a:rPr>
              <a:t> </a:t>
            </a:r>
            <a:endParaRPr lang="en-US" sz="15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0241280" cy="566928"/>
          </a:xfrm>
          <a:prstGeom prst="rect">
            <a:avLst/>
          </a:prstGeom>
          <a:noFill/>
          <a:ln/>
        </p:spPr>
        <p:txBody>
          <a:bodyPr wrap="square" rtlCol="0"/>
          <a:lstStyle>
            <a:lvl1pPr algn="l" indent="0" marL="0">
              <a:buNone/>
              <a:defRPr lang="en-US" sz="2500" b="1" dirty="0">
                <a:solidFill>
                  <a:srgbClr val="055BAA"/>
                </a:solidFill>
              </a:defRPr>
            </a:lvl1pPr>
          </a:lstStyle>
          <a:p>
            <a:pPr algn="l" indent="0" marL="0">
              <a:buNone/>
            </a:pPr>
            <a:r>
              <a:rPr lang="en-US" sz="2500" b="1" dirty="0">
                <a:solidFill>
                  <a:srgbClr val="055BAA"/>
                </a:solidFill>
              </a:rPr>
              <a:t> </a:t>
            </a:r>
            <a:endParaRPr lang="en-US" sz="2500" dirty="0"/>
          </a:p>
        </p:txBody>
      </p:sp>
      <p:sp>
        <p:nvSpPr>
          <p:cNvPr id="3" name="Shape 0"/>
          <p:cNvSpPr/>
          <p:nvPr/>
        </p:nvSpPr>
        <p:spPr>
          <a:xfrm>
            <a:off x="502920" y="914400"/>
            <a:ext cx="11155680" cy="0"/>
          </a:xfrm>
          <a:prstGeom prst="line">
            <a:avLst/>
          </a:prstGeom>
          <a:noFill/>
          <a:ln w="12700">
            <a:solidFill>
              <a:srgbClr val="055BAA"/>
            </a:solidFill>
            <a:prstDash val="solid"/>
          </a:ln>
        </p:spPr>
      </p:sp>
      <p:pic>
        <p:nvPicPr>
          <p:cNvPr id="4" name="Image 0" descr="/home/claude/deck/img/up_crest.png">    </p:cNvPr>
          <p:cNvPicPr>
            <a:picLocks noChangeAspect="1"/>
          </p:cNvPicPr>
          <p:nvPr/>
        </p:nvPicPr>
        <p:blipFill>
          <a:blip r:embed="rId1"/>
          <a:stretch>
            <a:fillRect/>
          </a:stretch>
        </p:blipFill>
        <p:spPr>
          <a:xfrm>
            <a:off x="10927080" y="182880"/>
            <a:ext cx="731520" cy="685800"/>
          </a:xfrm>
          <a:prstGeom prst="rect">
            <a:avLst/>
          </a:prstGeom>
        </p:spPr>
      </p:pic>
      <p:sp>
        <p:nvSpPr>
          <p:cNvPr id="5" name="Text 1"/>
          <p:cNvSpPr txBox="1"/>
          <p:nvPr/>
        </p:nvSpPr>
        <p:spPr>
          <a:xfrm>
            <a:off x="502920" y="6355080"/>
            <a:ext cx="7315200" cy="274320"/>
          </a:xfrm>
          <a:prstGeom prst="rect">
            <a:avLst/>
          </a:prstGeom>
          <a:noFill/>
          <a:ln/>
        </p:spPr>
        <p:txBody>
          <a:bodyPr wrap="square" rtlCol="0" anchor="ctr"/>
          <a:lstStyle/>
          <a:p>
            <a:pPr indent="0" marL="0">
              <a:buNone/>
            </a:pPr>
            <a:r>
              <a:rPr lang="en-US" sz="900" dirty="0">
                <a:solidFill>
                  <a:srgbClr val="7D8CA0"/>
                </a:solidFill>
              </a:rPr>
              <a:t>MIT 805 Big Data  ·  NYC HVFHV  ·  Gwenzi &amp; Mabe</a:t>
            </a:r>
            <a:endParaRPr lang="en-US" sz="900" dirty="0"/>
          </a:p>
        </p:txBody>
      </p:sp>
      <p:sp>
        <p:nvSpPr>
          <p:cNvPr id="6" name="Text 2"/>
          <p:cNvSpPr/>
          <p:nvPr>
            <p:ph idx="104" hasCustomPrompt="1"/>
          </p:nvPr>
        </p:nvSpPr>
        <p:spPr>
          <a:xfrm>
            <a:off x="10149840" y="6355080"/>
            <a:ext cx="457200" cy="274320"/>
          </a:xfrm>
          <a:prstGeom prst="rect">
            <a:avLst/>
          </a:prstGeom>
          <a:noFill/>
          <a:ln/>
        </p:spPr>
        <p:txBody>
          <a:bodyPr wrap="square" rtlCol="0"/>
          <a:lstStyle>
            <a:lvl1pPr algn="r" indent="0" marL="0">
              <a:buNone/>
              <a:defRPr lang="en-US" sz="900" dirty="0">
                <a:solidFill>
                  <a:srgbClr val="7D8CA0"/>
                </a:solidFill>
              </a:defRPr>
            </a:lvl1pPr>
          </a:lstStyle>
          <a:p>
            <a:pPr algn="r" indent="0" marL="0">
              <a:buNone/>
            </a:pP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777240" y="2240280"/>
            <a:ext cx="9235440" cy="1737360"/>
          </a:xfrm>
          <a:prstGeom prst="rect">
            <a:avLst/>
          </a:prstGeom>
          <a:noFill/>
          <a:ln/>
        </p:spPr>
        <p:txBody>
          <a:bodyPr wrap="square" rtlCol="0" anchor="b"/>
          <a:lstStyle/>
          <a:p>
            <a:pPr algn="l" indent="0" marL="0">
              <a:buNone/>
            </a:pPr>
            <a:r>
              <a:rPr lang="en-US" sz="3800" b="1" dirty="0">
                <a:solidFill>
                  <a:schemeClr val="bg1"/>
                </a:solidFill>
              </a:rPr>
              <a:t>Supply, Demand and Policy in</a:t>
            </a:r>
            <a:endParaRPr lang="en-US" sz="3800" dirty="0"/>
          </a:p>
          <a:p>
            <a:pPr algn="l" indent="0" marL="0">
              <a:buNone/>
            </a:pPr>
            <a:r>
              <a:rPr lang="en-US" sz="3800" b="1" dirty="0">
                <a:solidFill>
                  <a:schemeClr val="bg1"/>
                </a:solidFill>
              </a:rPr>
              <a:t>New York's Ridehail Market</a:t>
            </a:r>
            <a:endParaRPr lang="en-US" sz="3800" dirty="0"/>
          </a:p>
        </p:txBody>
      </p:sp>
      <p:sp>
        <p:nvSpPr>
          <p:cNvPr id="3" name="Text 0"/>
          <p:cNvSpPr/>
          <p:nvPr>
            <p:ph idx="102" type="body" hasCustomPrompt="1"/>
          </p:nvPr>
        </p:nvSpPr>
        <p:spPr>
          <a:xfrm>
            <a:off x="822960" y="4114800"/>
            <a:ext cx="10424160" cy="1463040"/>
          </a:xfrm>
          <a:prstGeom prst="rect">
            <a:avLst/>
          </a:prstGeom>
          <a:noFill/>
          <a:ln/>
        </p:spPr>
        <p:txBody>
          <a:bodyPr wrap="square" rtlCol="0" anchor="t"/>
          <a:lstStyle/>
          <a:p>
            <a:pPr indent="0" marL="0">
              <a:buNone/>
            </a:pPr>
            <a:r>
              <a:rPr lang="en-US" sz="1500" b="1" dirty="0">
                <a:solidFill>
                  <a:srgbClr val="D3E4F4"/>
                </a:solidFill>
              </a:rPr>
              <a:t>MIT 805 Big Data Semester Project  |  Parts 1 and 2
</a:t>
            </a:r>
            <a:pPr indent="0" marL="0">
              <a:buNone/>
            </a:pPr>
            <a:r>
              <a:rPr lang="en-US" sz="1500" dirty="0">
                <a:solidFill>
                  <a:srgbClr val="D3E4F4"/>
                </a:solidFill>
              </a:rPr>
              <a:t>Gishon K Gwenzi (21731056)  ·  Letsoba Savannah Mabe (20582995)
</a:t>
            </a:r>
            <a:pPr indent="0" marL="0">
              <a:buNone/>
            </a:pPr>
            <a:r>
              <a:rPr lang="en-US" sz="1500" i="1" dirty="0">
                <a:solidFill>
                  <a:srgbClr val="9FB4D4"/>
                </a:solidFill>
              </a:rPr>
              <a:t>462 million trips  ·  PySpark distributed processing  ·  University of Pretoria</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0241280" cy="566928"/>
          </a:xfrm>
          <a:prstGeom prst="rect">
            <a:avLst/>
          </a:prstGeom>
          <a:noFill/>
          <a:ln/>
        </p:spPr>
        <p:txBody>
          <a:bodyPr wrap="square" rtlCol="0" anchor="ctr"/>
          <a:lstStyle/>
          <a:p>
            <a:pPr algn="l" indent="0" marL="0">
              <a:buNone/>
            </a:pPr>
            <a:r>
              <a:rPr lang="en-US" sz="2500" b="1" dirty="0">
                <a:solidFill>
                  <a:srgbClr val="055BAA"/>
                </a:solidFill>
              </a:rPr>
              <a:t>The dataset and why it needs distributed processing</a:t>
            </a:r>
            <a:endParaRPr lang="en-US" sz="2500" dirty="0"/>
          </a:p>
        </p:txBody>
      </p:sp>
      <p:sp>
        <p:nvSpPr>
          <p:cNvPr id="3" name="card-0.6-1.42"/>
          <p:cNvSpPr/>
          <p:nvPr/>
        </p:nvSpPr>
        <p:spPr>
          <a:xfrm>
            <a:off x="548640" y="1298448"/>
            <a:ext cx="3520440" cy="1828800"/>
          </a:xfrm>
          <a:prstGeom prst="roundRect">
            <a:avLst>
              <a:gd name="adj" fmla="val 4000"/>
            </a:avLst>
          </a:prstGeom>
          <a:solidFill>
            <a:srgbClr val="E8F0F8"/>
          </a:solidFill>
          <a:ln w="12700">
            <a:solidFill>
              <a:srgbClr val="E8F0F8"/>
            </a:solidFill>
            <a:prstDash val="solid"/>
          </a:ln>
        </p:spPr>
      </p:sp>
      <p:sp>
        <p:nvSpPr>
          <p:cNvPr id="4" name="Text 2"/>
          <p:cNvSpPr txBox="1"/>
          <p:nvPr/>
        </p:nvSpPr>
        <p:spPr>
          <a:xfrm>
            <a:off x="777240" y="1435608"/>
            <a:ext cx="3108960" cy="274320"/>
          </a:xfrm>
          <a:prstGeom prst="rect">
            <a:avLst/>
          </a:prstGeom>
          <a:noFill/>
          <a:ln/>
        </p:spPr>
        <p:txBody>
          <a:bodyPr wrap="square" lIns="0" tIns="0" rIns="0" bIns="0" rtlCol="0" anchor="ctr"/>
          <a:lstStyle/>
          <a:p>
            <a:pPr indent="0" marL="0">
              <a:buNone/>
            </a:pPr>
            <a:r>
              <a:rPr lang="en-US" sz="1200" b="1" dirty="0">
                <a:solidFill>
                  <a:srgbClr val="055BAA"/>
                </a:solidFill>
              </a:rPr>
              <a:t>Source</a:t>
            </a:r>
            <a:endParaRPr lang="en-US" sz="1200" dirty="0"/>
          </a:p>
        </p:txBody>
      </p:sp>
      <p:sp>
        <p:nvSpPr>
          <p:cNvPr id="5" name="Text 3"/>
          <p:cNvSpPr txBox="1"/>
          <p:nvPr/>
        </p:nvSpPr>
        <p:spPr>
          <a:xfrm>
            <a:off x="777240" y="1755648"/>
            <a:ext cx="3108960" cy="1280160"/>
          </a:xfrm>
          <a:prstGeom prst="rect">
            <a:avLst/>
          </a:prstGeom>
          <a:noFill/>
          <a:ln/>
        </p:spPr>
        <p:txBody>
          <a:bodyPr wrap="square" lIns="0" tIns="0" rIns="0" bIns="0" rtlCol="0" anchor="ctr"/>
          <a:lstStyle/>
          <a:p>
            <a:pPr indent="0" marL="0">
              <a:buNone/>
            </a:pPr>
            <a:r>
              <a:rPr lang="en-US" sz="1150" dirty="0">
                <a:solidFill>
                  <a:schemeClr val="tx1"/>
                </a:solidFill>
              </a:rPr>
              <a:t>NYC Taxi &amp; Limousine Commission High Volume For-Hire Vehicle trip records — every Uber, Lyft, Via and Juno trip since Feb 2019. Monthly Parquet, NYC Open Data licence.</a:t>
            </a:r>
            <a:endParaRPr lang="en-US" sz="1150" dirty="0"/>
          </a:p>
        </p:txBody>
      </p:sp>
      <p:sp>
        <p:nvSpPr>
          <p:cNvPr id="6" name="card-4.72-1.42"/>
          <p:cNvSpPr/>
          <p:nvPr/>
        </p:nvSpPr>
        <p:spPr>
          <a:xfrm>
            <a:off x="4315968" y="1298448"/>
            <a:ext cx="3520440" cy="1828800"/>
          </a:xfrm>
          <a:prstGeom prst="roundRect">
            <a:avLst>
              <a:gd name="adj" fmla="val 4000"/>
            </a:avLst>
          </a:prstGeom>
          <a:solidFill>
            <a:srgbClr val="E8F0F8"/>
          </a:solidFill>
          <a:ln w="12700">
            <a:solidFill>
              <a:srgbClr val="E8F0F8"/>
            </a:solidFill>
            <a:prstDash val="solid"/>
          </a:ln>
        </p:spPr>
      </p:sp>
      <p:sp>
        <p:nvSpPr>
          <p:cNvPr id="7" name="Text 5"/>
          <p:cNvSpPr txBox="1"/>
          <p:nvPr/>
        </p:nvSpPr>
        <p:spPr>
          <a:xfrm>
            <a:off x="4544568" y="1435608"/>
            <a:ext cx="3108960" cy="274320"/>
          </a:xfrm>
          <a:prstGeom prst="rect">
            <a:avLst/>
          </a:prstGeom>
          <a:noFill/>
          <a:ln/>
        </p:spPr>
        <p:txBody>
          <a:bodyPr wrap="square" lIns="0" tIns="0" rIns="0" bIns="0" rtlCol="0" anchor="ctr"/>
          <a:lstStyle/>
          <a:p>
            <a:pPr indent="0" marL="0">
              <a:buNone/>
            </a:pPr>
            <a:r>
              <a:rPr lang="en-US" sz="1200" b="1" dirty="0">
                <a:solidFill>
                  <a:srgbClr val="055BAA"/>
                </a:solidFill>
              </a:rPr>
              <a:t>Why it is Big Data</a:t>
            </a:r>
            <a:endParaRPr lang="en-US" sz="1200" dirty="0"/>
          </a:p>
        </p:txBody>
      </p:sp>
      <p:sp>
        <p:nvSpPr>
          <p:cNvPr id="8" name="Text 6"/>
          <p:cNvSpPr txBox="1"/>
          <p:nvPr/>
        </p:nvSpPr>
        <p:spPr>
          <a:xfrm>
            <a:off x="4544568" y="1755648"/>
            <a:ext cx="3108960" cy="1280160"/>
          </a:xfrm>
          <a:prstGeom prst="rect">
            <a:avLst/>
          </a:prstGeom>
          <a:noFill/>
          <a:ln/>
        </p:spPr>
        <p:txBody>
          <a:bodyPr wrap="square" lIns="0" tIns="0" rIns="0" bIns="0" rtlCol="0" anchor="ctr"/>
          <a:lstStyle/>
          <a:p>
            <a:pPr indent="0" marL="0">
              <a:buNone/>
            </a:pPr>
            <a:r>
              <a:rPr lang="en-US" sz="1150" dirty="0">
                <a:solidFill>
                  <a:schemeClr val="tx1"/>
                </a:solidFill>
              </a:rPr>
              <a:t>37 GB compressed across 88 files, roughly 364 GB uncompressed. A single month exceeds what a spreadsheet will open; one year requires distributed execution.</a:t>
            </a:r>
            <a:endParaRPr lang="en-US" sz="1150" dirty="0"/>
          </a:p>
        </p:txBody>
      </p:sp>
      <p:sp>
        <p:nvSpPr>
          <p:cNvPr id="9" name="card-8.84-1.42"/>
          <p:cNvSpPr/>
          <p:nvPr/>
        </p:nvSpPr>
        <p:spPr>
          <a:xfrm>
            <a:off x="8083296" y="1298448"/>
            <a:ext cx="3520440" cy="1828800"/>
          </a:xfrm>
          <a:prstGeom prst="roundRect">
            <a:avLst>
              <a:gd name="adj" fmla="val 4000"/>
            </a:avLst>
          </a:prstGeom>
          <a:solidFill>
            <a:srgbClr val="E8F0F8"/>
          </a:solidFill>
          <a:ln w="12700">
            <a:solidFill>
              <a:srgbClr val="E8F0F8"/>
            </a:solidFill>
            <a:prstDash val="solid"/>
          </a:ln>
        </p:spPr>
      </p:sp>
      <p:sp>
        <p:nvSpPr>
          <p:cNvPr id="10" name="Text 8"/>
          <p:cNvSpPr txBox="1"/>
          <p:nvPr/>
        </p:nvSpPr>
        <p:spPr>
          <a:xfrm>
            <a:off x="8311896" y="1435608"/>
            <a:ext cx="3108960" cy="274320"/>
          </a:xfrm>
          <a:prstGeom prst="rect">
            <a:avLst/>
          </a:prstGeom>
          <a:noFill/>
          <a:ln/>
        </p:spPr>
        <p:txBody>
          <a:bodyPr wrap="square" lIns="0" tIns="0" rIns="0" bIns="0" rtlCol="0" anchor="ctr"/>
          <a:lstStyle/>
          <a:p>
            <a:pPr indent="0" marL="0">
              <a:buNone/>
            </a:pPr>
            <a:r>
              <a:rPr lang="en-US" sz="1200" b="1" dirty="0">
                <a:solidFill>
                  <a:srgbClr val="055BAA"/>
                </a:solidFill>
              </a:rPr>
              <a:t>No PII</a:t>
            </a:r>
            <a:endParaRPr lang="en-US" sz="1200" dirty="0"/>
          </a:p>
        </p:txBody>
      </p:sp>
      <p:sp>
        <p:nvSpPr>
          <p:cNvPr id="11" name="Text 9"/>
          <p:cNvSpPr txBox="1"/>
          <p:nvPr/>
        </p:nvSpPr>
        <p:spPr>
          <a:xfrm>
            <a:off x="8311896" y="1755648"/>
            <a:ext cx="3108960" cy="1280160"/>
          </a:xfrm>
          <a:prstGeom prst="rect">
            <a:avLst/>
          </a:prstGeom>
          <a:noFill/>
          <a:ln/>
        </p:spPr>
        <p:txBody>
          <a:bodyPr wrap="square" lIns="0" tIns="0" rIns="0" bIns="0" rtlCol="0" anchor="ctr"/>
          <a:lstStyle/>
          <a:p>
            <a:pPr indent="0" marL="0">
              <a:buNone/>
            </a:pPr>
            <a:r>
              <a:rPr lang="en-US" sz="1150" dirty="0">
                <a:solidFill>
                  <a:schemeClr val="tx1"/>
                </a:solidFill>
              </a:rPr>
              <a:t>No rider, driver or vehicle identifiers. Location generalised to 265 taxi zones; GPS discontinued in 2016. Nothing identifying is redistributed.</a:t>
            </a:r>
            <a:endParaRPr lang="en-US" sz="1150" dirty="0"/>
          </a:p>
        </p:txBody>
      </p:sp>
      <p:sp>
        <p:nvSpPr>
          <p:cNvPr id="12" name="Text 10"/>
          <p:cNvSpPr txBox="1"/>
          <p:nvPr/>
        </p:nvSpPr>
        <p:spPr>
          <a:xfrm>
            <a:off x="548640" y="3291840"/>
            <a:ext cx="11064240" cy="274320"/>
          </a:xfrm>
          <a:prstGeom prst="rect">
            <a:avLst/>
          </a:prstGeom>
          <a:noFill/>
          <a:ln/>
        </p:spPr>
        <p:txBody>
          <a:bodyPr wrap="square" lIns="0" tIns="0" rIns="0" bIns="0" rtlCol="0" anchor="ctr"/>
          <a:lstStyle/>
          <a:p>
            <a:pPr indent="0" marL="0">
              <a:buNone/>
            </a:pPr>
            <a:r>
              <a:rPr lang="en-US" sz="1200" i="1" dirty="0">
                <a:solidFill>
                  <a:srgbClr val="5A6880"/>
                </a:solidFill>
              </a:rPr>
              <a:t>Three reported scales, measured by HTTP HEAD across all 88 published files — no download required</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3657600"/>
          <a:ext cx="11064240" cy="914400"/>
        </p:xfrm>
        <a:graphic>
          <a:graphicData uri="http://schemas.openxmlformats.org/drawingml/2006/table">
            <a:tbl>
              <a:tblPr/>
              <a:tblGrid>
                <a:gridCol w="2468880"/>
                <a:gridCol w="2926080"/>
                <a:gridCol w="1005840"/>
                <a:gridCol w="2103120"/>
                <a:gridCol w="2560320"/>
              </a:tblGrid>
              <a:tr h="329184">
                <a:tc>
                  <a:txBody>
                    <a:bodyPr/>
                    <a:lstStyle/>
                    <a:p>
                      <a:pPr indent="0" marL="0">
                        <a:buNone/>
                      </a:pPr>
                      <a:r>
                        <a:rPr lang="en-US" sz="1200" b="1" dirty="0">
                          <a:solidFill>
                            <a:srgbClr val="FFFFFF"/>
                          </a:solidFill>
                        </a:rPr>
                        <a:t>Tier</a:t>
                      </a:r>
                      <a:endParaRPr lang="en-US" sz="120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rgbClr val="055BAA"/>
                    </a:solidFill>
                  </a:tcPr>
                </a:tc>
                <a:tc>
                  <a:txBody>
                    <a:bodyPr/>
                    <a:lstStyle/>
                    <a:p>
                      <a:pPr indent="0" marL="0">
                        <a:buNone/>
                      </a:pPr>
                      <a:r>
                        <a:rPr lang="en-US" sz="1200" b="1" dirty="0">
                          <a:solidFill>
                            <a:srgbClr val="FFFFFF"/>
                          </a:solidFill>
                        </a:rPr>
                        <a:t>Period</a:t>
                      </a:r>
                      <a:endParaRPr lang="en-US" sz="120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rgbClr val="055BAA"/>
                    </a:solidFill>
                  </a:tcPr>
                </a:tc>
                <a:tc>
                  <a:txBody>
                    <a:bodyPr/>
                    <a:lstStyle/>
                    <a:p>
                      <a:pPr indent="0" marL="0">
                        <a:buNone/>
                      </a:pPr>
                      <a:r>
                        <a:rPr lang="en-US" sz="1200" b="1" dirty="0">
                          <a:solidFill>
                            <a:srgbClr val="FFFFFF"/>
                          </a:solidFill>
                        </a:rPr>
                        <a:t>Files</a:t>
                      </a:r>
                      <a:endParaRPr lang="en-US" sz="120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rgbClr val="055BAA"/>
                    </a:solidFill>
                  </a:tcPr>
                </a:tc>
                <a:tc>
                  <a:txBody>
                    <a:bodyPr/>
                    <a:lstStyle/>
                    <a:p>
                      <a:pPr indent="0" marL="0">
                        <a:buNone/>
                      </a:pPr>
                      <a:r>
                        <a:rPr lang="en-US" sz="1200" b="1" dirty="0">
                          <a:solidFill>
                            <a:srgbClr val="FFFFFF"/>
                          </a:solidFill>
                        </a:rPr>
                        <a:t>Parquet</a:t>
                      </a:r>
                      <a:endParaRPr lang="en-US" sz="120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rgbClr val="055BAA"/>
                    </a:solidFill>
                  </a:tcPr>
                </a:tc>
                <a:tc>
                  <a:txBody>
                    <a:bodyPr/>
                    <a:lstStyle/>
                    <a:p>
                      <a:pPr indent="0" marL="0">
                        <a:buNone/>
                      </a:pPr>
                      <a:r>
                        <a:rPr lang="en-US" sz="1200" b="1" dirty="0">
                          <a:solidFill>
                            <a:srgbClr val="FFFFFF"/>
                          </a:solidFill>
                        </a:rPr>
                        <a:t>Uncompressed</a:t>
                      </a:r>
                      <a:endParaRPr lang="en-US" sz="120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rgbClr val="055BAA"/>
                    </a:solidFill>
                  </a:tcPr>
                </a:tc>
              </a:tr>
              <a:tr h="329184">
                <a:tc>
                  <a:txBody>
                    <a:bodyPr/>
                    <a:lstStyle/>
                    <a:p>
                      <a:pPr indent="0" marL="0">
                        <a:buNone/>
                      </a:pPr>
                      <a:r>
                        <a:rPr lang="en-US" sz="1200" dirty="0">
                          <a:solidFill>
                            <a:schemeClr val="tx1"/>
                          </a:solidFill>
                        </a:rPr>
                        <a:t>Raw</a:t>
                      </a:r>
                      <a:endParaRPr lang="en-US" sz="120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200" dirty="0">
                          <a:solidFill>
                            <a:schemeClr val="tx1"/>
                          </a:solidFill>
                        </a:rPr>
                        <a:t>2019-02 to 2026-05</a:t>
                      </a:r>
                      <a:endParaRPr lang="en-US" sz="120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200" dirty="0">
                          <a:solidFill>
                            <a:schemeClr val="tx1"/>
                          </a:solidFill>
                        </a:rPr>
                        <a:t>88</a:t>
                      </a:r>
                      <a:endParaRPr lang="en-US" sz="120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200" dirty="0">
                          <a:solidFill>
                            <a:schemeClr val="tx1"/>
                          </a:solidFill>
                        </a:rPr>
                        <a:t>37.11 GB</a:t>
                      </a:r>
                      <a:endParaRPr lang="en-US" sz="120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200" dirty="0">
                          <a:solidFill>
                            <a:schemeClr val="tx1"/>
                          </a:solidFill>
                        </a:rPr>
                        <a:t>~364 GB</a:t>
                      </a:r>
                      <a:endParaRPr lang="en-US" sz="120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r h="329184">
                <a:tc>
                  <a:txBody>
                    <a:bodyPr/>
                    <a:lstStyle/>
                    <a:p>
                      <a:pPr indent="0" marL="0">
                        <a:buNone/>
                      </a:pPr>
                      <a:r>
                        <a:rPr lang="en-US" sz="1200" dirty="0">
                          <a:solidFill>
                            <a:schemeClr val="tx1"/>
                          </a:solidFill>
                        </a:rPr>
                        <a:t>Working</a:t>
                      </a:r>
                      <a:endParaRPr lang="en-US" sz="120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200" dirty="0">
                          <a:solidFill>
                            <a:schemeClr val="tx1"/>
                          </a:solidFill>
                        </a:rPr>
                        <a:t>2024-01 to 2026-05</a:t>
                      </a:r>
                      <a:endParaRPr lang="en-US" sz="120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200" dirty="0">
                          <a:solidFill>
                            <a:schemeClr val="tx1"/>
                          </a:solidFill>
                        </a:rPr>
                        <a:t>29</a:t>
                      </a:r>
                      <a:endParaRPr lang="en-US" sz="120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200" dirty="0">
                          <a:solidFill>
                            <a:schemeClr val="tx1"/>
                          </a:solidFill>
                        </a:rPr>
                        <a:t>13.32 GB</a:t>
                      </a:r>
                      <a:endParaRPr lang="en-US" sz="120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200" dirty="0">
                          <a:solidFill>
                            <a:schemeClr val="tx1"/>
                          </a:solidFill>
                        </a:rPr>
                        <a:t>~131 GB</a:t>
                      </a:r>
                      <a:endParaRPr lang="en-US" sz="120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r h="329184">
                <a:tc>
                  <a:txBody>
                    <a:bodyPr/>
                    <a:lstStyle/>
                    <a:p>
                      <a:pPr indent="0" marL="0">
                        <a:buNone/>
                      </a:pPr>
                      <a:r>
                        <a:rPr lang="en-US" sz="1200" dirty="0">
                          <a:solidFill>
                            <a:schemeClr val="tx1"/>
                          </a:solidFill>
                        </a:rPr>
                        <a:t>Processing (Part 1)</a:t>
                      </a:r>
                      <a:endParaRPr lang="en-US" sz="120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200" dirty="0">
                          <a:solidFill>
                            <a:schemeClr val="tx1"/>
                          </a:solidFill>
                        </a:rPr>
                        <a:t>2025 calendar year</a:t>
                      </a:r>
                      <a:endParaRPr lang="en-US" sz="120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200" dirty="0">
                          <a:solidFill>
                            <a:schemeClr val="tx1"/>
                          </a:solidFill>
                        </a:rPr>
                        <a:t>12</a:t>
                      </a:r>
                      <a:endParaRPr lang="en-US" sz="120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200" dirty="0">
                          <a:solidFill>
                            <a:schemeClr val="tx1"/>
                          </a:solidFill>
                        </a:rPr>
                        <a:t>5.55 GB</a:t>
                      </a:r>
                      <a:endParaRPr lang="en-US" sz="120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200" dirty="0">
                          <a:solidFill>
                            <a:schemeClr val="tx1"/>
                          </a:solidFill>
                        </a:rPr>
                        <a:t>54.45 GB</a:t>
                      </a:r>
                      <a:endParaRPr lang="en-US" sz="120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bl>
          </a:graphicData>
        </a:graphic>
      </p:graphicFrame>
      <p:sp>
        <p:nvSpPr>
          <p:cNvPr id="14" name="Text 11"/>
          <p:cNvSpPr txBox="1"/>
          <p:nvPr/>
        </p:nvSpPr>
        <p:spPr>
          <a:xfrm>
            <a:off x="548640" y="5394960"/>
            <a:ext cx="11064240" cy="365760"/>
          </a:xfrm>
          <a:prstGeom prst="rect">
            <a:avLst/>
          </a:prstGeom>
          <a:noFill/>
          <a:ln/>
        </p:spPr>
        <p:txBody>
          <a:bodyPr wrap="square" lIns="0" tIns="0" rIns="0" bIns="0" rtlCol="0" anchor="ctr"/>
          <a:lstStyle/>
          <a:p>
            <a:pPr indent="0" marL="0">
              <a:buNone/>
            </a:pPr>
            <a:r>
              <a:rPr lang="en-US" sz="1300" b="1" dirty="0">
                <a:solidFill>
                  <a:srgbClr val="C0504D"/>
                </a:solidFill>
              </a:rPr>
              <a:t>243,589,684 records · 25 columns · Parquet compresses 9.8×, so disk size understates what Spark must hold in memory</a:t>
            </a:r>
            <a:endParaRPr lang="en-US" sz="1300" dirty="0"/>
          </a:p>
        </p:txBody>
      </p:sp>
      <p:sp>
        <p:nvSpPr>
          <p:cNvPr id="16" name="Text 2"/>
          <p:cNvSpPr/>
          <p:nvPr>
            <p:ph idx="104" hasCustomPrompt="1"/>
          </p:nvPr>
        </p:nvSpPr>
        <p:spPr>
          <a:xfrm>
            <a:off x="10149840" y="6355080"/>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0241280" cy="566928"/>
          </a:xfrm>
          <a:prstGeom prst="rect">
            <a:avLst/>
          </a:prstGeom>
          <a:noFill/>
          <a:ln/>
        </p:spPr>
        <p:txBody>
          <a:bodyPr wrap="square" rtlCol="0" anchor="ctr"/>
          <a:lstStyle/>
          <a:p>
            <a:pPr algn="l" indent="0" marL="0">
              <a:buNone/>
            </a:pPr>
            <a:r>
              <a:rPr lang="en-US" sz="2500" b="1" dirty="0">
                <a:solidFill>
                  <a:srgbClr val="055BAA"/>
                </a:solidFill>
              </a:rPr>
              <a:t>Data quality: auditing consistency, not trimming outliers</a:t>
            </a:r>
            <a:endParaRPr lang="en-US" sz="2500" dirty="0"/>
          </a:p>
        </p:txBody>
      </p:sp>
      <p:sp>
        <p:nvSpPr>
          <p:cNvPr id="3" name="Text 1"/>
          <p:cNvSpPr txBox="1"/>
          <p:nvPr/>
        </p:nvSpPr>
        <p:spPr>
          <a:xfrm>
            <a:off x="548640" y="1325880"/>
            <a:ext cx="2651760" cy="658368"/>
          </a:xfrm>
          <a:prstGeom prst="rect">
            <a:avLst/>
          </a:prstGeom>
          <a:noFill/>
          <a:ln/>
        </p:spPr>
        <p:txBody>
          <a:bodyPr wrap="square" lIns="0" tIns="0" rIns="0" bIns="0" rtlCol="0" anchor="ctr"/>
          <a:lstStyle/>
          <a:p>
            <a:pPr algn="ctr" indent="0" marL="0">
              <a:buNone/>
            </a:pPr>
            <a:r>
              <a:rPr lang="en-US" sz="3400" b="1" dirty="0">
                <a:solidFill>
                  <a:srgbClr val="055BAA"/>
                </a:solidFill>
              </a:rPr>
              <a:t>95.43%</a:t>
            </a:r>
            <a:endParaRPr lang="en-US" sz="3400" dirty="0"/>
          </a:p>
        </p:txBody>
      </p:sp>
      <p:sp>
        <p:nvSpPr>
          <p:cNvPr id="4" name="Text 2"/>
          <p:cNvSpPr txBox="1"/>
          <p:nvPr/>
        </p:nvSpPr>
        <p:spPr>
          <a:xfrm>
            <a:off x="548640" y="1984248"/>
            <a:ext cx="2651760" cy="502920"/>
          </a:xfrm>
          <a:prstGeom prst="rect">
            <a:avLst/>
          </a:prstGeom>
          <a:noFill/>
          <a:ln/>
        </p:spPr>
        <p:txBody>
          <a:bodyPr wrap="square" lIns="0" tIns="0" rIns="0" bIns="0" rtlCol="0" anchor="ctr"/>
          <a:lstStyle/>
          <a:p>
            <a:pPr algn="ctr" indent="0" marL="0">
              <a:buNone/>
            </a:pPr>
            <a:r>
              <a:rPr lang="en-US" sz="1100" dirty="0">
                <a:solidFill>
                  <a:srgbClr val="5A6880"/>
                </a:solidFill>
              </a:rPr>
              <a:t>records retained after</a:t>
            </a:r>
            <a:endParaRPr lang="en-US" sz="1100" dirty="0"/>
          </a:p>
          <a:p>
            <a:pPr algn="ctr" indent="0" marL="0">
              <a:buNone/>
            </a:pPr>
            <a:r>
              <a:rPr lang="en-US" sz="1100" dirty="0">
                <a:solidFill>
                  <a:srgbClr val="5A6880"/>
                </a:solidFill>
              </a:rPr>
              <a:t>scope restriction</a:t>
            </a:r>
            <a:endParaRPr lang="en-US" sz="1100" dirty="0"/>
          </a:p>
        </p:txBody>
      </p:sp>
      <p:sp>
        <p:nvSpPr>
          <p:cNvPr id="5" name="Text 3"/>
          <p:cNvSpPr txBox="1"/>
          <p:nvPr/>
        </p:nvSpPr>
        <p:spPr>
          <a:xfrm>
            <a:off x="3383280" y="1325880"/>
            <a:ext cx="2651760" cy="658368"/>
          </a:xfrm>
          <a:prstGeom prst="rect">
            <a:avLst/>
          </a:prstGeom>
          <a:noFill/>
          <a:ln/>
        </p:spPr>
        <p:txBody>
          <a:bodyPr wrap="square" lIns="0" tIns="0" rIns="0" bIns="0" rtlCol="0" anchor="ctr"/>
          <a:lstStyle/>
          <a:p>
            <a:pPr algn="ctr" indent="0" marL="0">
              <a:buNone/>
            </a:pPr>
            <a:r>
              <a:rPr lang="en-US" sz="3400" b="1" dirty="0">
                <a:solidFill>
                  <a:srgbClr val="2E8B8B"/>
                </a:solidFill>
              </a:rPr>
              <a:t>26</a:t>
            </a:r>
            <a:endParaRPr lang="en-US" sz="3400" dirty="0"/>
          </a:p>
        </p:txBody>
      </p:sp>
      <p:sp>
        <p:nvSpPr>
          <p:cNvPr id="6" name="Text 4"/>
          <p:cNvSpPr txBox="1"/>
          <p:nvPr/>
        </p:nvSpPr>
        <p:spPr>
          <a:xfrm>
            <a:off x="3383280" y="1984248"/>
            <a:ext cx="2651760" cy="502920"/>
          </a:xfrm>
          <a:prstGeom prst="rect">
            <a:avLst/>
          </a:prstGeom>
          <a:noFill/>
          <a:ln/>
        </p:spPr>
        <p:txBody>
          <a:bodyPr wrap="square" lIns="0" tIns="0" rIns="0" bIns="0" rtlCol="0" anchor="ctr"/>
          <a:lstStyle/>
          <a:p>
            <a:pPr algn="ctr" indent="0" marL="0">
              <a:buNone/>
            </a:pPr>
            <a:r>
              <a:rPr lang="en-US" sz="1100" dirty="0">
                <a:solidFill>
                  <a:srgbClr val="5A6880"/>
                </a:solidFill>
              </a:rPr>
              <a:t>duplicate records</a:t>
            </a:r>
            <a:endParaRPr lang="en-US" sz="1100" dirty="0"/>
          </a:p>
          <a:p>
            <a:pPr algn="ctr" indent="0" marL="0">
              <a:buNone/>
            </a:pPr>
            <a:r>
              <a:rPr lang="en-US" sz="1100" dirty="0">
                <a:solidFill>
                  <a:srgbClr val="5A6880"/>
                </a:solidFill>
              </a:rPr>
              <a:t>in 243.6 million</a:t>
            </a:r>
            <a:endParaRPr lang="en-US" sz="1100" dirty="0"/>
          </a:p>
        </p:txBody>
      </p:sp>
      <p:sp>
        <p:nvSpPr>
          <p:cNvPr id="7" name="Text 5"/>
          <p:cNvSpPr txBox="1"/>
          <p:nvPr/>
        </p:nvSpPr>
        <p:spPr>
          <a:xfrm>
            <a:off x="6217920" y="1325880"/>
            <a:ext cx="2651760" cy="658368"/>
          </a:xfrm>
          <a:prstGeom prst="rect">
            <a:avLst/>
          </a:prstGeom>
          <a:noFill/>
          <a:ln/>
        </p:spPr>
        <p:txBody>
          <a:bodyPr wrap="square" lIns="0" tIns="0" rIns="0" bIns="0" rtlCol="0" anchor="ctr"/>
          <a:lstStyle/>
          <a:p>
            <a:pPr algn="ctr" indent="0" marL="0">
              <a:buNone/>
            </a:pPr>
            <a:r>
              <a:rPr lang="en-US" sz="3400" b="1" dirty="0">
                <a:solidFill>
                  <a:srgbClr val="C0504D"/>
                </a:solidFill>
              </a:rPr>
              <a:t>1.15%</a:t>
            </a:r>
            <a:endParaRPr lang="en-US" sz="3400" dirty="0"/>
          </a:p>
        </p:txBody>
      </p:sp>
      <p:sp>
        <p:nvSpPr>
          <p:cNvPr id="8" name="Text 6"/>
          <p:cNvSpPr txBox="1"/>
          <p:nvPr/>
        </p:nvSpPr>
        <p:spPr>
          <a:xfrm>
            <a:off x="6217920" y="1984248"/>
            <a:ext cx="2651760" cy="502920"/>
          </a:xfrm>
          <a:prstGeom prst="rect">
            <a:avLst/>
          </a:prstGeom>
          <a:noFill/>
          <a:ln/>
        </p:spPr>
        <p:txBody>
          <a:bodyPr wrap="square" lIns="0" tIns="0" rIns="0" bIns="0" rtlCol="0" anchor="ctr"/>
          <a:lstStyle/>
          <a:p>
            <a:pPr algn="ctr" indent="0" marL="0">
              <a:buNone/>
            </a:pPr>
            <a:r>
              <a:rPr lang="en-US" sz="1100" dirty="0">
                <a:solidFill>
                  <a:srgbClr val="5A6880"/>
                </a:solidFill>
              </a:rPr>
              <a:t>pickup timestamped</a:t>
            </a:r>
            <a:endParaRPr lang="en-US" sz="1100" dirty="0"/>
          </a:p>
          <a:p>
            <a:pPr algn="ctr" indent="0" marL="0">
              <a:buNone/>
            </a:pPr>
            <a:r>
              <a:rPr lang="en-US" sz="1100" dirty="0">
                <a:solidFill>
                  <a:srgbClr val="5A6880"/>
                </a:solidFill>
              </a:rPr>
              <a:t>before the request</a:t>
            </a:r>
            <a:endParaRPr lang="en-US" sz="1100" dirty="0"/>
          </a:p>
        </p:txBody>
      </p:sp>
      <p:sp>
        <p:nvSpPr>
          <p:cNvPr id="9" name="Text 7"/>
          <p:cNvSpPr txBox="1"/>
          <p:nvPr/>
        </p:nvSpPr>
        <p:spPr>
          <a:xfrm>
            <a:off x="9052560" y="1325880"/>
            <a:ext cx="2651760" cy="658368"/>
          </a:xfrm>
          <a:prstGeom prst="rect">
            <a:avLst/>
          </a:prstGeom>
          <a:noFill/>
          <a:ln/>
        </p:spPr>
        <p:txBody>
          <a:bodyPr wrap="square" lIns="0" tIns="0" rIns="0" bIns="0" rtlCol="0" anchor="ctr"/>
          <a:lstStyle/>
          <a:p>
            <a:pPr algn="ctr" indent="0" marL="0">
              <a:buNone/>
            </a:pPr>
            <a:r>
              <a:rPr lang="en-US" sz="3400" b="1" dirty="0">
                <a:solidFill>
                  <a:srgbClr val="055BAA"/>
                </a:solidFill>
              </a:rPr>
              <a:t>2 of 25</a:t>
            </a:r>
            <a:endParaRPr lang="en-US" sz="3400" dirty="0"/>
          </a:p>
        </p:txBody>
      </p:sp>
      <p:sp>
        <p:nvSpPr>
          <p:cNvPr id="10" name="Text 8"/>
          <p:cNvSpPr txBox="1"/>
          <p:nvPr/>
        </p:nvSpPr>
        <p:spPr>
          <a:xfrm>
            <a:off x="9052560" y="1984248"/>
            <a:ext cx="2651760" cy="502920"/>
          </a:xfrm>
          <a:prstGeom prst="rect">
            <a:avLst/>
          </a:prstGeom>
          <a:noFill/>
          <a:ln/>
        </p:spPr>
        <p:txBody>
          <a:bodyPr wrap="square" lIns="0" tIns="0" rIns="0" bIns="0" rtlCol="0" anchor="ctr"/>
          <a:lstStyle/>
          <a:p>
            <a:pPr algn="ctr" indent="0" marL="0">
              <a:buNone/>
            </a:pPr>
            <a:r>
              <a:rPr lang="en-US" sz="1100" dirty="0">
                <a:solidFill>
                  <a:srgbClr val="5A6880"/>
                </a:solidFill>
              </a:rPr>
              <a:t>columns containing</a:t>
            </a:r>
            <a:endParaRPr lang="en-US" sz="1100" dirty="0"/>
          </a:p>
          <a:p>
            <a:pPr algn="ctr" indent="0" marL="0">
              <a:buNone/>
            </a:pPr>
            <a:r>
              <a:rPr lang="en-US" sz="1100" dirty="0">
                <a:solidFill>
                  <a:srgbClr val="5A6880"/>
                </a:solidFill>
              </a:rPr>
              <a:t>any null values</a:t>
            </a:r>
            <a:endParaRPr lang="en-US" sz="1100" dirty="0"/>
          </a:p>
        </p:txBody>
      </p:sp>
      <p:sp>
        <p:nvSpPr>
          <p:cNvPr id="11" name="card-0.6-3.3"/>
          <p:cNvSpPr/>
          <p:nvPr/>
        </p:nvSpPr>
        <p:spPr>
          <a:xfrm>
            <a:off x="548640" y="3017520"/>
            <a:ext cx="5440680" cy="2286000"/>
          </a:xfrm>
          <a:prstGeom prst="roundRect">
            <a:avLst>
              <a:gd name="adj" fmla="val 3200"/>
            </a:avLst>
          </a:prstGeom>
          <a:solidFill>
            <a:srgbClr val="E8F0F8"/>
          </a:solidFill>
          <a:ln w="12700">
            <a:solidFill>
              <a:srgbClr val="E8F0F8"/>
            </a:solidFill>
            <a:prstDash val="solid"/>
          </a:ln>
        </p:spPr>
      </p:sp>
      <p:sp>
        <p:nvSpPr>
          <p:cNvPr id="12" name="Text 10"/>
          <p:cNvSpPr txBox="1"/>
          <p:nvPr/>
        </p:nvSpPr>
        <p:spPr>
          <a:xfrm>
            <a:off x="822960" y="3200400"/>
            <a:ext cx="4937760" cy="274320"/>
          </a:xfrm>
          <a:prstGeom prst="rect">
            <a:avLst/>
          </a:prstGeom>
          <a:noFill/>
          <a:ln/>
        </p:spPr>
        <p:txBody>
          <a:bodyPr wrap="square" lIns="0" tIns="0" rIns="0" bIns="0" rtlCol="0" anchor="ctr"/>
          <a:lstStyle/>
          <a:p>
            <a:pPr indent="0" marL="0">
              <a:buNone/>
            </a:pPr>
            <a:r>
              <a:rPr lang="en-US" sz="1400" b="1" dirty="0">
                <a:solidFill>
                  <a:srgbClr val="055BAA"/>
                </a:solidFill>
              </a:rPr>
              <a:t>What we found</a:t>
            </a:r>
            <a:endParaRPr lang="en-US" sz="1400" dirty="0"/>
          </a:p>
        </p:txBody>
      </p:sp>
      <p:sp>
        <p:nvSpPr>
          <p:cNvPr id="13" name="Text 11"/>
          <p:cNvSpPr txBox="1"/>
          <p:nvPr/>
        </p:nvSpPr>
        <p:spPr>
          <a:xfrm>
            <a:off x="822960" y="3520440"/>
            <a:ext cx="4937760" cy="1645920"/>
          </a:xfrm>
          <a:prstGeom prst="rect">
            <a:avLst/>
          </a:prstGeom>
          <a:noFill/>
          <a:ln/>
        </p:spPr>
        <p:txBody>
          <a:bodyPr wrap="square" rtlCol="0" anchor="ctr"/>
          <a:lstStyle/>
          <a:p>
            <a:pPr marL="342900" indent="-342900">
              <a:spcAft>
                <a:spcPts val="800"/>
              </a:spcAft>
              <a:buSzPct val="100000"/>
              <a:buChar char="•"/>
            </a:pPr>
            <a:r>
              <a:rPr lang="en-US" sz="1200" dirty="0">
                <a:solidFill>
                  <a:schemeClr val="tx1"/>
                </a:solidFill>
              </a:rPr>
              <a:t>Only two fields carry nulls — one structurally inapplicable, one unevenly reported by operator</a:t>
            </a:r>
            <a:endParaRPr lang="en-US" sz="1200" dirty="0"/>
          </a:p>
          <a:p>
            <a:pPr marL="342900" indent="-342900">
              <a:spcAft>
                <a:spcPts val="800"/>
              </a:spcAft>
              <a:buSzPct val="100000"/>
              <a:buChar char="•"/>
            </a:pPr>
            <a:r>
              <a:rPr lang="en-US" sz="1200" dirty="0">
                <a:solidFill>
                  <a:schemeClr val="tx1"/>
                </a:solidFill>
              </a:rPr>
              <a:t>2.79 million records have a pickup before the request: clock drift, not corruption</a:t>
            </a:r>
            <a:endParaRPr lang="en-US" sz="1200" dirty="0"/>
          </a:p>
          <a:p>
            <a:pPr marL="342900" indent="-342900">
              <a:spcAft>
                <a:spcPts val="800"/>
              </a:spcAft>
              <a:buSzPct val="100000"/>
              <a:buChar char="•"/>
            </a:pPr>
            <a:r>
              <a:rPr lang="en-US" sz="1200" dirty="0">
                <a:solidFill>
                  <a:schemeClr val="tx1"/>
                </a:solidFill>
              </a:rPr>
              <a:t>531 records show negative driver pay against high fares — retrospective adjustments</a:t>
            </a:r>
            <a:endParaRPr lang="en-US" sz="1200" dirty="0"/>
          </a:p>
        </p:txBody>
      </p:sp>
      <p:sp>
        <p:nvSpPr>
          <p:cNvPr id="14" name="card-6.75-3.3"/>
          <p:cNvSpPr/>
          <p:nvPr/>
        </p:nvSpPr>
        <p:spPr>
          <a:xfrm>
            <a:off x="6172200" y="3017520"/>
            <a:ext cx="5440680" cy="2286000"/>
          </a:xfrm>
          <a:prstGeom prst="roundRect">
            <a:avLst>
              <a:gd name="adj" fmla="val 3200"/>
            </a:avLst>
          </a:prstGeom>
          <a:solidFill>
            <a:srgbClr val="E8F0F8"/>
          </a:solidFill>
          <a:ln w="12700">
            <a:solidFill>
              <a:srgbClr val="E8F0F8"/>
            </a:solidFill>
            <a:prstDash val="solid"/>
          </a:ln>
        </p:spPr>
      </p:sp>
      <p:sp>
        <p:nvSpPr>
          <p:cNvPr id="15" name="Text 13"/>
          <p:cNvSpPr txBox="1"/>
          <p:nvPr/>
        </p:nvSpPr>
        <p:spPr>
          <a:xfrm>
            <a:off x="6446520" y="3200400"/>
            <a:ext cx="4937760" cy="274320"/>
          </a:xfrm>
          <a:prstGeom prst="rect">
            <a:avLst/>
          </a:prstGeom>
          <a:noFill/>
          <a:ln/>
        </p:spPr>
        <p:txBody>
          <a:bodyPr wrap="square" lIns="0" tIns="0" rIns="0" bIns="0" rtlCol="0" anchor="ctr"/>
          <a:lstStyle/>
          <a:p>
            <a:pPr indent="0" marL="0">
              <a:buNone/>
            </a:pPr>
            <a:r>
              <a:rPr lang="en-US" sz="1400" b="1" dirty="0">
                <a:solidFill>
                  <a:srgbClr val="C0504D"/>
                </a:solidFill>
              </a:rPr>
              <a:t>How we handled it</a:t>
            </a:r>
            <a:endParaRPr lang="en-US" sz="1400" dirty="0"/>
          </a:p>
        </p:txBody>
      </p:sp>
      <p:sp>
        <p:nvSpPr>
          <p:cNvPr id="16" name="Text 14"/>
          <p:cNvSpPr txBox="1"/>
          <p:nvPr/>
        </p:nvSpPr>
        <p:spPr>
          <a:xfrm>
            <a:off x="6446520" y="3520440"/>
            <a:ext cx="4937760" cy="1645920"/>
          </a:xfrm>
          <a:prstGeom prst="rect">
            <a:avLst/>
          </a:prstGeom>
          <a:noFill/>
          <a:ln/>
        </p:spPr>
        <p:txBody>
          <a:bodyPr wrap="square" rtlCol="0" anchor="ctr"/>
          <a:lstStyle/>
          <a:p>
            <a:pPr marL="342900" indent="-342900">
              <a:spcAft>
                <a:spcPts val="800"/>
              </a:spcAft>
              <a:buSzPct val="100000"/>
              <a:buChar char="•"/>
            </a:pPr>
            <a:r>
              <a:rPr lang="en-US" sz="1200" dirty="0">
                <a:solidFill>
                  <a:schemeClr val="tx1"/>
                </a:solidFill>
              </a:rPr>
              <a:t>Selective exclusion by analysis, not blanket deletion — clock-drift rows drop out of wait-time work only</a:t>
            </a:r>
            <a:endParaRPr lang="en-US" sz="1200" dirty="0"/>
          </a:p>
          <a:p>
            <a:pPr marL="342900" indent="-342900">
              <a:spcAft>
                <a:spcPts val="800"/>
              </a:spcAft>
              <a:buSzPct val="100000"/>
              <a:buChar char="•"/>
            </a:pPr>
            <a:r>
              <a:rPr lang="en-US" sz="1200" dirty="0">
                <a:solidFill>
                  <a:schemeClr val="tx1"/>
                </a:solidFill>
              </a:rPr>
              <a:t>Scope restriction cost 11.1M trips averaging 16.7 miles and $70 — we quantify the bias it introduces</a:t>
            </a:r>
            <a:endParaRPr lang="en-US" sz="1200" dirty="0"/>
          </a:p>
          <a:p>
            <a:pPr marL="342900" indent="-342900">
              <a:spcAft>
                <a:spcPts val="800"/>
              </a:spcAft>
              <a:buSzPct val="100000"/>
              <a:buChar char="•"/>
            </a:pPr>
            <a:r>
              <a:rPr lang="en-US" sz="1200" dirty="0">
                <a:solidFill>
                  <a:schemeClr val="tx1"/>
                </a:solidFill>
              </a:rPr>
              <a:t>Duplicates retained: 26 in 243.6M are coincidence, not error</a:t>
            </a:r>
            <a:endParaRPr lang="en-US" sz="1200" dirty="0"/>
          </a:p>
        </p:txBody>
      </p:sp>
      <p:sp>
        <p:nvSpPr>
          <p:cNvPr id="17" name="Text 15"/>
          <p:cNvSpPr txBox="1"/>
          <p:nvPr/>
        </p:nvSpPr>
        <p:spPr>
          <a:xfrm>
            <a:off x="548640" y="5486400"/>
            <a:ext cx="11064240" cy="320040"/>
          </a:xfrm>
          <a:prstGeom prst="rect">
            <a:avLst/>
          </a:prstGeom>
          <a:noFill/>
          <a:ln/>
        </p:spPr>
        <p:txBody>
          <a:bodyPr wrap="square" lIns="0" tIns="0" rIns="0" bIns="0" rtlCol="0" anchor="ctr"/>
          <a:lstStyle/>
          <a:p>
            <a:pPr indent="0" marL="0">
              <a:buNone/>
            </a:pPr>
            <a:r>
              <a:rPr lang="en-US" sz="1250" i="1" dirty="0">
                <a:solidFill>
                  <a:srgbClr val="5A6880"/>
                </a:solidFill>
              </a:rPr>
              <a:t>Monetary fields represent a settled accounting position, not the amount transacted at the time of travel</a:t>
            </a:r>
            <a:endParaRPr lang="en-US" sz="1250" dirty="0"/>
          </a:p>
        </p:txBody>
      </p:sp>
      <p:sp>
        <p:nvSpPr>
          <p:cNvPr id="19" name="Text 2"/>
          <p:cNvSpPr/>
          <p:nvPr>
            <p:ph idx="104" hasCustomPrompt="1"/>
          </p:nvPr>
        </p:nvSpPr>
        <p:spPr>
          <a:xfrm>
            <a:off x="10149840" y="6355080"/>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0241280" cy="566928"/>
          </a:xfrm>
          <a:prstGeom prst="rect">
            <a:avLst/>
          </a:prstGeom>
          <a:noFill/>
          <a:ln/>
        </p:spPr>
        <p:txBody>
          <a:bodyPr wrap="square" rtlCol="0" anchor="ctr"/>
          <a:lstStyle/>
          <a:p>
            <a:pPr algn="l" indent="0" marL="0">
              <a:buNone/>
            </a:pPr>
            <a:r>
              <a:rPr lang="en-US" sz="2500" b="1" dirty="0">
                <a:solidFill>
                  <a:srgbClr val="055BAA"/>
                </a:solidFill>
              </a:rPr>
              <a:t>What the exploratory analysis revealed</a:t>
            </a:r>
            <a:endParaRPr lang="en-US" sz="2500" dirty="0"/>
          </a:p>
        </p:txBody>
      </p:sp>
      <p:pic>
        <p:nvPicPr>
          <p:cNvPr id="3" name="Image 0" descr="/home/claude/deck/img/wait_inversion.png">    </p:cNvPr>
          <p:cNvPicPr>
            <a:picLocks noChangeAspect="1"/>
          </p:cNvPicPr>
          <p:nvPr/>
        </p:nvPicPr>
        <p:blipFill>
          <a:blip r:embed="rId1"/>
          <a:stretch>
            <a:fillRect/>
          </a:stretch>
        </p:blipFill>
        <p:spPr>
          <a:xfrm>
            <a:off x="502920" y="1234440"/>
            <a:ext cx="6492240" cy="3017520"/>
          </a:xfrm>
          <a:prstGeom prst="rect">
            <a:avLst/>
          </a:prstGeom>
        </p:spPr>
      </p:pic>
      <p:sp>
        <p:nvSpPr>
          <p:cNvPr id="4" name="Text 1"/>
          <p:cNvSpPr txBox="1"/>
          <p:nvPr/>
        </p:nvSpPr>
        <p:spPr>
          <a:xfrm>
            <a:off x="7269480" y="1234440"/>
            <a:ext cx="4343400" cy="320040"/>
          </a:xfrm>
          <a:prstGeom prst="rect">
            <a:avLst/>
          </a:prstGeom>
          <a:noFill/>
          <a:ln/>
        </p:spPr>
        <p:txBody>
          <a:bodyPr wrap="square" lIns="0" tIns="0" rIns="0" bIns="0" rtlCol="0" anchor="ctr"/>
          <a:lstStyle/>
          <a:p>
            <a:pPr indent="0" marL="0">
              <a:buNone/>
            </a:pPr>
            <a:r>
              <a:rPr lang="en-US" sz="1400" b="1" dirty="0">
                <a:solidFill>
                  <a:srgbClr val="055BAA"/>
                </a:solidFill>
              </a:rPr>
              <a:t>Three findings that framed Part 2</a:t>
            </a:r>
            <a:endParaRPr lang="en-US" sz="1400" dirty="0"/>
          </a:p>
        </p:txBody>
      </p:sp>
      <p:sp>
        <p:nvSpPr>
          <p:cNvPr id="5" name="Text 2"/>
          <p:cNvSpPr txBox="1"/>
          <p:nvPr/>
        </p:nvSpPr>
        <p:spPr>
          <a:xfrm>
            <a:off x="7269480" y="1554480"/>
            <a:ext cx="4343400" cy="2743200"/>
          </a:xfrm>
          <a:prstGeom prst="rect">
            <a:avLst/>
          </a:prstGeom>
          <a:noFill/>
          <a:ln/>
        </p:spPr>
        <p:txBody>
          <a:bodyPr wrap="square" rtlCol="0" anchor="ctr"/>
          <a:lstStyle/>
          <a:p>
            <a:pPr marL="342900" indent="-342900">
              <a:spcAft>
                <a:spcPts val="800"/>
              </a:spcAft>
              <a:buSzPct val="100000"/>
              <a:buChar char="•"/>
            </a:pPr>
            <a:r>
              <a:rPr lang="en-US" sz="1250" dirty="0">
                <a:solidFill>
                  <a:schemeClr val="tx1"/>
                </a:solidFill>
              </a:rPr>
              <a:t>A duopoly on paper only — Uber 72.2% to Lyft 27.8%, HHI 5,982, yet fares differ 8% and median wait by 16 seconds</a:t>
            </a:r>
            <a:endParaRPr lang="en-US" sz="1250" dirty="0"/>
          </a:p>
          <a:p>
            <a:pPr marL="342900" indent="-342900">
              <a:spcAft>
                <a:spcPts val="800"/>
              </a:spcAft>
              <a:buSzPct val="100000"/>
              <a:buChar char="•"/>
            </a:pPr>
            <a:r>
              <a:rPr lang="en-US" sz="1250" dirty="0">
                <a:solidFill>
                  <a:schemeClr val="tx1"/>
                </a:solidFill>
              </a:rPr>
              <a:t>Demand varies 9.3-fold across the week, and the morning commute rivals the Saturday-evening peak</a:t>
            </a:r>
            <a:endParaRPr lang="en-US" sz="1250" dirty="0"/>
          </a:p>
          <a:p>
            <a:pPr marL="342900" indent="-342900">
              <a:spcAft>
                <a:spcPts val="800"/>
              </a:spcAft>
              <a:buSzPct val="100000"/>
              <a:buChar char="•"/>
            </a:pPr>
            <a:r>
              <a:rPr lang="en-US" sz="1250" dirty="0">
                <a:solidFill>
                  <a:schemeClr val="tx1"/>
                </a:solidFill>
              </a:rPr>
              <a:t>Wait peaks at 04:00 and troughs at 10:00 — the inverse of demand, implying driver supply binds, not congestion</a:t>
            </a:r>
            <a:endParaRPr lang="en-US" sz="1250" dirty="0"/>
          </a:p>
        </p:txBody>
      </p:sp>
      <p:sp>
        <p:nvSpPr>
          <p:cNvPr id="6" name="card-0.55-4.85"/>
          <p:cNvSpPr/>
          <p:nvPr/>
        </p:nvSpPr>
        <p:spPr>
          <a:xfrm>
            <a:off x="502920" y="4434840"/>
            <a:ext cx="11109960" cy="1234440"/>
          </a:xfrm>
          <a:prstGeom prst="roundRect">
            <a:avLst>
              <a:gd name="adj" fmla="val 5926"/>
            </a:avLst>
          </a:prstGeom>
          <a:solidFill>
            <a:srgbClr val="FBEEED"/>
          </a:solidFill>
          <a:ln w="12700">
            <a:solidFill>
              <a:srgbClr val="FBEEED"/>
            </a:solidFill>
            <a:prstDash val="solid"/>
          </a:ln>
        </p:spPr>
      </p:sp>
      <p:sp>
        <p:nvSpPr>
          <p:cNvPr id="7" name="Text 4"/>
          <p:cNvSpPr txBox="1"/>
          <p:nvPr/>
        </p:nvSpPr>
        <p:spPr>
          <a:xfrm>
            <a:off x="822960" y="4617720"/>
            <a:ext cx="10515600" cy="868680"/>
          </a:xfrm>
          <a:prstGeom prst="rect">
            <a:avLst/>
          </a:prstGeom>
          <a:noFill/>
          <a:ln/>
        </p:spPr>
        <p:txBody>
          <a:bodyPr wrap="square" lIns="0" tIns="0" rIns="0" bIns="0" rtlCol="0" anchor="ctr"/>
          <a:lstStyle/>
          <a:p>
            <a:pPr indent="0" marL="0">
              <a:buNone/>
            </a:pPr>
            <a:r>
              <a:rPr lang="en-US" sz="1400" b="1" dirty="0">
                <a:solidFill>
                  <a:srgbClr val="C0504D"/>
                </a:solidFill>
              </a:rPr>
              <a:t>The question Part 2 had to answer:  </a:t>
            </a:r>
            <a:pPr indent="0" marL="0">
              <a:buNone/>
            </a:pPr>
            <a:r>
              <a:rPr lang="en-US" sz="1400" dirty="0">
                <a:solidFill>
                  <a:schemeClr val="tx1"/>
                </a:solidFill>
              </a:rPr>
              <a:t>if waits are worst when the roads are emptiest, the constraint is supply — so where does supply fail, and did congestion pricing change it?</a:t>
            </a:r>
            <a:endParaRPr lang="en-US" sz="1400" dirty="0"/>
          </a:p>
        </p:txBody>
      </p:sp>
      <p:sp>
        <p:nvSpPr>
          <p:cNvPr id="9" name="Text 2"/>
          <p:cNvSpPr/>
          <p:nvPr>
            <p:ph idx="104" hasCustomPrompt="1"/>
          </p:nvPr>
        </p:nvSpPr>
        <p:spPr>
          <a:xfrm>
            <a:off x="10149840" y="6355080"/>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777240" y="2651760"/>
            <a:ext cx="9692640" cy="1188720"/>
          </a:xfrm>
          <a:prstGeom prst="rect">
            <a:avLst/>
          </a:prstGeom>
          <a:noFill/>
          <a:ln/>
        </p:spPr>
        <p:txBody>
          <a:bodyPr wrap="square" rtlCol="0" anchor="ctr"/>
          <a:lstStyle/>
          <a:p>
            <a:pPr algn="l" indent="0" marL="0">
              <a:buNone/>
            </a:pPr>
            <a:r>
              <a:rPr lang="en-US" sz="3200" b="1" dirty="0">
                <a:solidFill>
                  <a:schemeClr val="bg1"/>
                </a:solidFill>
              </a:rPr>
              <a:t>Part 2 — MapReduce at scale across 462 million trips</a:t>
            </a:r>
            <a:endParaRPr lang="en-US" sz="3200" dirty="0"/>
          </a:p>
        </p:txBody>
      </p:sp>
      <p:sp>
        <p:nvSpPr>
          <p:cNvPr id="3" name="Text 0"/>
          <p:cNvSpPr/>
          <p:nvPr>
            <p:ph idx="102" type="body" hasCustomPrompt="1"/>
          </p:nvPr>
        </p:nvSpPr>
        <p:spPr>
          <a:xfrm>
            <a:off x="822960" y="3886200"/>
            <a:ext cx="9692640" cy="1005840"/>
          </a:xfrm>
          <a:prstGeom prst="rect">
            <a:avLst/>
          </a:prstGeom>
          <a:noFill/>
          <a:ln/>
        </p:spPr>
        <p:txBody>
          <a:bodyPr wrap="square" rtlCol="0" anchor="t"/>
          <a:lstStyle/>
          <a:p>
            <a:pPr indent="0" marL="0">
              <a:buNone/>
            </a:pPr>
            <a:r>
              <a:rPr lang="en-US" sz="1500" dirty="0">
                <a:solidFill>
                  <a:srgbClr val="D3E4F4"/>
                </a:solidFill>
              </a:rPr>
              <a:t>Where, when and for whom does the market fail to match supply to demand — and did congestion pricing change that?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0241280" cy="566928"/>
          </a:xfrm>
          <a:prstGeom prst="rect">
            <a:avLst/>
          </a:prstGeom>
          <a:noFill/>
          <a:ln/>
        </p:spPr>
        <p:txBody>
          <a:bodyPr wrap="square" rtlCol="0" anchor="ctr"/>
          <a:lstStyle/>
          <a:p>
            <a:pPr algn="l" indent="0" marL="0">
              <a:buNone/>
            </a:pPr>
            <a:r>
              <a:rPr lang="en-US" sz="2500" b="1" dirty="0">
                <a:solidFill>
                  <a:srgbClr val="055BAA"/>
                </a:solidFill>
              </a:rPr>
              <a:t>Architecture: one distributed pass, then everything else is cheap</a:t>
            </a:r>
            <a:endParaRPr lang="en-US" sz="2500" dirty="0"/>
          </a:p>
        </p:txBody>
      </p:sp>
      <p:sp>
        <p:nvSpPr>
          <p:cNvPr id="3" name="card-0.6-1.5"/>
          <p:cNvSpPr/>
          <p:nvPr/>
        </p:nvSpPr>
        <p:spPr>
          <a:xfrm>
            <a:off x="548640" y="1371600"/>
            <a:ext cx="2606040" cy="2148840"/>
          </a:xfrm>
          <a:prstGeom prst="roundRect">
            <a:avLst>
              <a:gd name="adj" fmla="val 3404"/>
            </a:avLst>
          </a:prstGeom>
          <a:solidFill>
            <a:srgbClr val="E8F0F8"/>
          </a:solidFill>
          <a:ln w="12700">
            <a:solidFill>
              <a:srgbClr val="E8F0F8"/>
            </a:solidFill>
            <a:prstDash val="solid"/>
          </a:ln>
        </p:spPr>
      </p:sp>
      <p:sp>
        <p:nvSpPr>
          <p:cNvPr id="4" name="dot0"/>
          <p:cNvSpPr/>
          <p:nvPr/>
        </p:nvSpPr>
        <p:spPr>
          <a:xfrm>
            <a:off x="749808" y="1581912"/>
            <a:ext cx="384048" cy="384048"/>
          </a:xfrm>
          <a:prstGeom prst="ellipse">
            <a:avLst/>
          </a:prstGeom>
          <a:solidFill>
            <a:srgbClr val="055BAA"/>
          </a:solidFill>
          <a:ln w="12700">
            <a:solidFill>
              <a:srgbClr val="055BAA"/>
            </a:solidFill>
            <a:prstDash val="solid"/>
          </a:ln>
        </p:spPr>
      </p:sp>
      <p:sp>
        <p:nvSpPr>
          <p:cNvPr id="5" name="Text 3"/>
          <p:cNvSpPr txBox="1"/>
          <p:nvPr/>
        </p:nvSpPr>
        <p:spPr>
          <a:xfrm>
            <a:off x="749808" y="15819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4"/>
          <p:cNvSpPr txBox="1"/>
          <p:nvPr/>
        </p:nvSpPr>
        <p:spPr>
          <a:xfrm>
            <a:off x="1243584" y="1600200"/>
            <a:ext cx="1783080" cy="365760"/>
          </a:xfrm>
          <a:prstGeom prst="rect">
            <a:avLst/>
          </a:prstGeom>
          <a:noFill/>
          <a:ln/>
        </p:spPr>
        <p:txBody>
          <a:bodyPr wrap="square" lIns="0" tIns="0" rIns="0" bIns="0" rtlCol="0" anchor="ctr"/>
          <a:lstStyle/>
          <a:p>
            <a:pPr indent="0" marL="0">
              <a:buNone/>
            </a:pPr>
            <a:r>
              <a:rPr lang="en-US" sz="1250" b="1" dirty="0">
                <a:solidFill>
                  <a:srgbClr val="055BAA"/>
                </a:solidFill>
              </a:rPr>
              <a:t>24 monthly Parquet files</a:t>
            </a:r>
            <a:endParaRPr lang="en-US" sz="1250" dirty="0"/>
          </a:p>
        </p:txBody>
      </p:sp>
      <p:sp>
        <p:nvSpPr>
          <p:cNvPr id="7" name="Text 5"/>
          <p:cNvSpPr txBox="1"/>
          <p:nvPr/>
        </p:nvSpPr>
        <p:spPr>
          <a:xfrm>
            <a:off x="749808" y="2103120"/>
            <a:ext cx="2194560" cy="1280160"/>
          </a:xfrm>
          <a:prstGeom prst="rect">
            <a:avLst/>
          </a:prstGeom>
          <a:noFill/>
          <a:ln/>
        </p:spPr>
        <p:txBody>
          <a:bodyPr wrap="square" lIns="0" tIns="0" rIns="0" bIns="0" rtlCol="0" anchor="ctr"/>
          <a:lstStyle/>
          <a:p>
            <a:pPr indent="0" marL="0">
              <a:buNone/>
            </a:pPr>
            <a:r>
              <a:rPr lang="en-US" sz="1100" dirty="0">
                <a:solidFill>
                  <a:schemeClr val="tx1"/>
                </a:solidFill>
              </a:rPr>
              <a:t>2024-01 to 2025-12</a:t>
            </a:r>
            <a:endParaRPr lang="en-US" sz="1100" dirty="0"/>
          </a:p>
          <a:p>
            <a:pPr indent="0" marL="0">
              <a:buNone/>
            </a:pPr>
            <a:r>
              <a:rPr lang="en-US" sz="1100" dirty="0">
                <a:solidFill>
                  <a:schemeClr val="tx1"/>
                </a:solidFill>
              </a:rPr>
              <a:t>11.1 GB compressed</a:t>
            </a:r>
            <a:endParaRPr lang="en-US" sz="1100" dirty="0"/>
          </a:p>
          <a:p>
            <a:pPr indent="0" marL="0">
              <a:buNone/>
            </a:pPr>
            <a:r>
              <a:rPr lang="en-US" sz="1100" dirty="0">
                <a:solidFill>
                  <a:schemeClr val="tx1"/>
                </a:solidFill>
              </a:rPr>
              <a:t>~107 GB in memory</a:t>
            </a:r>
            <a:endParaRPr lang="en-US" sz="1100" dirty="0"/>
          </a:p>
        </p:txBody>
      </p:sp>
      <p:sp>
        <p:nvSpPr>
          <p:cNvPr id="8" name="Text 6"/>
          <p:cNvSpPr txBox="1"/>
          <p:nvPr/>
        </p:nvSpPr>
        <p:spPr>
          <a:xfrm>
            <a:off x="3127248" y="2194560"/>
            <a:ext cx="274320" cy="365760"/>
          </a:xfrm>
          <a:prstGeom prst="rect">
            <a:avLst/>
          </a:prstGeom>
          <a:noFill/>
          <a:ln/>
        </p:spPr>
        <p:txBody>
          <a:bodyPr wrap="square" lIns="0" tIns="0" rIns="0" bIns="0" rtlCol="0" anchor="ctr"/>
          <a:lstStyle/>
          <a:p>
            <a:pPr algn="ctr" indent="0" marL="0">
              <a:buNone/>
            </a:pPr>
            <a:r>
              <a:rPr lang="en-US" sz="1800" dirty="0">
                <a:solidFill>
                  <a:srgbClr val="9AA7BC"/>
                </a:solidFill>
              </a:rPr>
              <a:t>→</a:t>
            </a:r>
            <a:endParaRPr lang="en-US" sz="1800" dirty="0"/>
          </a:p>
        </p:txBody>
      </p:sp>
      <p:sp>
        <p:nvSpPr>
          <p:cNvPr id="9" name="card-3.72-1.5"/>
          <p:cNvSpPr/>
          <p:nvPr/>
        </p:nvSpPr>
        <p:spPr>
          <a:xfrm>
            <a:off x="3401568" y="1371600"/>
            <a:ext cx="2606040" cy="2148840"/>
          </a:xfrm>
          <a:prstGeom prst="roundRect">
            <a:avLst>
              <a:gd name="adj" fmla="val 3404"/>
            </a:avLst>
          </a:prstGeom>
          <a:solidFill>
            <a:srgbClr val="E8F0F8"/>
          </a:solidFill>
          <a:ln w="12700">
            <a:solidFill>
              <a:srgbClr val="E8F0F8"/>
            </a:solidFill>
            <a:prstDash val="solid"/>
          </a:ln>
        </p:spPr>
      </p:sp>
      <p:sp>
        <p:nvSpPr>
          <p:cNvPr id="10" name="dot1"/>
          <p:cNvSpPr/>
          <p:nvPr/>
        </p:nvSpPr>
        <p:spPr>
          <a:xfrm>
            <a:off x="3602736" y="1581912"/>
            <a:ext cx="384048" cy="384048"/>
          </a:xfrm>
          <a:prstGeom prst="ellipse">
            <a:avLst/>
          </a:prstGeom>
          <a:solidFill>
            <a:srgbClr val="6B8CA8"/>
          </a:solidFill>
          <a:ln w="12700">
            <a:solidFill>
              <a:srgbClr val="6B8CA8"/>
            </a:solidFill>
            <a:prstDash val="solid"/>
          </a:ln>
        </p:spPr>
      </p:sp>
      <p:sp>
        <p:nvSpPr>
          <p:cNvPr id="11" name="Text 9"/>
          <p:cNvSpPr txBox="1"/>
          <p:nvPr/>
        </p:nvSpPr>
        <p:spPr>
          <a:xfrm>
            <a:off x="3602736" y="15819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10"/>
          <p:cNvSpPr txBox="1"/>
          <p:nvPr/>
        </p:nvSpPr>
        <p:spPr>
          <a:xfrm>
            <a:off x="4096512" y="1600200"/>
            <a:ext cx="1783080" cy="365760"/>
          </a:xfrm>
          <a:prstGeom prst="rect">
            <a:avLst/>
          </a:prstGeom>
          <a:noFill/>
          <a:ln/>
        </p:spPr>
        <p:txBody>
          <a:bodyPr wrap="square" lIns="0" tIns="0" rIns="0" bIns="0" rtlCol="0" anchor="ctr"/>
          <a:lstStyle/>
          <a:p>
            <a:pPr indent="0" marL="0">
              <a:buNone/>
            </a:pPr>
            <a:r>
              <a:rPr lang="en-US" sz="1250" b="1" dirty="0">
                <a:solidFill>
                  <a:srgbClr val="6B8CA8"/>
                </a:solidFill>
              </a:rPr>
              <a:t>Clean + derive</a:t>
            </a:r>
            <a:endParaRPr lang="en-US" sz="1250" dirty="0"/>
          </a:p>
        </p:txBody>
      </p:sp>
      <p:sp>
        <p:nvSpPr>
          <p:cNvPr id="13" name="Text 11"/>
          <p:cNvSpPr txBox="1"/>
          <p:nvPr/>
        </p:nvSpPr>
        <p:spPr>
          <a:xfrm>
            <a:off x="3602736" y="2103120"/>
            <a:ext cx="2194560" cy="1280160"/>
          </a:xfrm>
          <a:prstGeom prst="rect">
            <a:avLst/>
          </a:prstGeom>
          <a:noFill/>
          <a:ln/>
        </p:spPr>
        <p:txBody>
          <a:bodyPr wrap="square" lIns="0" tIns="0" rIns="0" bIns="0" rtlCol="0" anchor="ctr"/>
          <a:lstStyle/>
          <a:p>
            <a:pPr indent="0" marL="0">
              <a:buNone/>
            </a:pPr>
            <a:r>
              <a:rPr lang="en-US" sz="1100" dirty="0">
                <a:solidFill>
                  <a:schemeClr val="tx1"/>
                </a:solidFill>
              </a:rPr>
              <a:t>Part 1 rules, plus wait_s,</a:t>
            </a:r>
            <a:endParaRPr lang="en-US" sz="1100" dirty="0"/>
          </a:p>
          <a:p>
            <a:pPr indent="0" marL="0">
              <a:buNone/>
            </a:pPr>
            <a:r>
              <a:rPr lang="en-US" sz="1100" dirty="0">
                <a:solidFill>
                  <a:schemeClr val="tx1"/>
                </a:solidFill>
              </a:rPr>
              <a:t>hour, and an empirically</a:t>
            </a:r>
            <a:endParaRPr lang="en-US" sz="1100" dirty="0"/>
          </a:p>
          <a:p>
            <a:pPr indent="0" marL="0">
              <a:buNone/>
            </a:pPr>
            <a:r>
              <a:rPr lang="en-US" sz="1100" dirty="0">
                <a:solidFill>
                  <a:schemeClr val="tx1"/>
                </a:solidFill>
              </a:rPr>
              <a:t>derived CBD zone flag</a:t>
            </a:r>
            <a:endParaRPr lang="en-US" sz="1100" dirty="0"/>
          </a:p>
        </p:txBody>
      </p:sp>
      <p:sp>
        <p:nvSpPr>
          <p:cNvPr id="14" name="Text 12"/>
          <p:cNvSpPr txBox="1"/>
          <p:nvPr/>
        </p:nvSpPr>
        <p:spPr>
          <a:xfrm>
            <a:off x="5980176" y="2194560"/>
            <a:ext cx="274320" cy="365760"/>
          </a:xfrm>
          <a:prstGeom prst="rect">
            <a:avLst/>
          </a:prstGeom>
          <a:noFill/>
          <a:ln/>
        </p:spPr>
        <p:txBody>
          <a:bodyPr wrap="square" lIns="0" tIns="0" rIns="0" bIns="0" rtlCol="0" anchor="ctr"/>
          <a:lstStyle/>
          <a:p>
            <a:pPr algn="ctr" indent="0" marL="0">
              <a:buNone/>
            </a:pPr>
            <a:r>
              <a:rPr lang="en-US" sz="1800" dirty="0">
                <a:solidFill>
                  <a:srgbClr val="9AA7BC"/>
                </a:solidFill>
              </a:rPr>
              <a:t>→</a:t>
            </a:r>
            <a:endParaRPr lang="en-US" sz="1800" dirty="0"/>
          </a:p>
        </p:txBody>
      </p:sp>
      <p:sp>
        <p:nvSpPr>
          <p:cNvPr id="15" name="card-6.84-1.5"/>
          <p:cNvSpPr/>
          <p:nvPr/>
        </p:nvSpPr>
        <p:spPr>
          <a:xfrm>
            <a:off x="6254496" y="1371600"/>
            <a:ext cx="2606040" cy="2148840"/>
          </a:xfrm>
          <a:prstGeom prst="roundRect">
            <a:avLst>
              <a:gd name="adj" fmla="val 3404"/>
            </a:avLst>
          </a:prstGeom>
          <a:solidFill>
            <a:srgbClr val="E8F0F8"/>
          </a:solidFill>
          <a:ln w="12700">
            <a:solidFill>
              <a:srgbClr val="E8F0F8"/>
            </a:solidFill>
            <a:prstDash val="solid"/>
          </a:ln>
        </p:spPr>
      </p:sp>
      <p:sp>
        <p:nvSpPr>
          <p:cNvPr id="16" name="dot2"/>
          <p:cNvSpPr/>
          <p:nvPr/>
        </p:nvSpPr>
        <p:spPr>
          <a:xfrm>
            <a:off x="6455664" y="1581912"/>
            <a:ext cx="384048" cy="384048"/>
          </a:xfrm>
          <a:prstGeom prst="ellipse">
            <a:avLst/>
          </a:prstGeom>
          <a:solidFill>
            <a:srgbClr val="C0504D"/>
          </a:solidFill>
          <a:ln w="12700">
            <a:solidFill>
              <a:srgbClr val="C0504D"/>
            </a:solidFill>
            <a:prstDash val="solid"/>
          </a:ln>
        </p:spPr>
      </p:sp>
      <p:sp>
        <p:nvSpPr>
          <p:cNvPr id="17" name="Text 15"/>
          <p:cNvSpPr txBox="1"/>
          <p:nvPr/>
        </p:nvSpPr>
        <p:spPr>
          <a:xfrm>
            <a:off x="6455664" y="15819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8" name="Text 16"/>
          <p:cNvSpPr txBox="1"/>
          <p:nvPr/>
        </p:nvSpPr>
        <p:spPr>
          <a:xfrm>
            <a:off x="6949440" y="1600200"/>
            <a:ext cx="1783080" cy="365760"/>
          </a:xfrm>
          <a:prstGeom prst="rect">
            <a:avLst/>
          </a:prstGeom>
          <a:noFill/>
          <a:ln/>
        </p:spPr>
        <p:txBody>
          <a:bodyPr wrap="square" lIns="0" tIns="0" rIns="0" bIns="0" rtlCol="0" anchor="ctr"/>
          <a:lstStyle/>
          <a:p>
            <a:pPr indent="0" marL="0">
              <a:buNone/>
            </a:pPr>
            <a:r>
              <a:rPr lang="en-US" sz="1250" b="1" dirty="0">
                <a:solidFill>
                  <a:srgbClr val="C0504D"/>
                </a:solidFill>
              </a:rPr>
              <a:t>One shuffle</a:t>
            </a:r>
            <a:endParaRPr lang="en-US" sz="1250" dirty="0"/>
          </a:p>
        </p:txBody>
      </p:sp>
      <p:sp>
        <p:nvSpPr>
          <p:cNvPr id="19" name="Text 17"/>
          <p:cNvSpPr txBox="1"/>
          <p:nvPr/>
        </p:nvSpPr>
        <p:spPr>
          <a:xfrm>
            <a:off x="6455664" y="2103120"/>
            <a:ext cx="2194560" cy="1280160"/>
          </a:xfrm>
          <a:prstGeom prst="rect">
            <a:avLst/>
          </a:prstGeom>
          <a:noFill/>
          <a:ln/>
        </p:spPr>
        <p:txBody>
          <a:bodyPr wrap="square" lIns="0" tIns="0" rIns="0" bIns="0" rtlCol="0" anchor="ctr"/>
          <a:lstStyle/>
          <a:p>
            <a:pPr indent="0" marL="0">
              <a:buNone/>
            </a:pPr>
            <a:r>
              <a:rPr lang="en-US" sz="1100" dirty="0">
                <a:solidFill>
                  <a:schemeClr val="tx1"/>
                </a:solidFill>
              </a:rPr>
              <a:t>Group by zone, DO zone,</a:t>
            </a:r>
            <a:endParaRPr lang="en-US" sz="1100" dirty="0"/>
          </a:p>
          <a:p>
            <a:pPr indent="0" marL="0">
              <a:buNone/>
            </a:pPr>
            <a:r>
              <a:rPr lang="en-US" sz="1100" dirty="0">
                <a:solidFill>
                  <a:schemeClr val="tx1"/>
                </a:solidFill>
              </a:rPr>
              <a:t>year, month, day, hour —</a:t>
            </a:r>
            <a:endParaRPr lang="en-US" sz="1100" dirty="0"/>
          </a:p>
          <a:p>
            <a:pPr indent="0" marL="0">
              <a:buNone/>
            </a:pPr>
            <a:r>
              <a:rPr lang="en-US" sz="1100" dirty="0">
                <a:solidFill>
                  <a:schemeClr val="tx1"/>
                </a:solidFill>
              </a:rPr>
              <a:t>storing sums, not means</a:t>
            </a:r>
            <a:endParaRPr lang="en-US" sz="1100" dirty="0"/>
          </a:p>
        </p:txBody>
      </p:sp>
      <p:sp>
        <p:nvSpPr>
          <p:cNvPr id="20" name="Text 18"/>
          <p:cNvSpPr txBox="1"/>
          <p:nvPr/>
        </p:nvSpPr>
        <p:spPr>
          <a:xfrm>
            <a:off x="8833104" y="2194560"/>
            <a:ext cx="274320" cy="365760"/>
          </a:xfrm>
          <a:prstGeom prst="rect">
            <a:avLst/>
          </a:prstGeom>
          <a:noFill/>
          <a:ln/>
        </p:spPr>
        <p:txBody>
          <a:bodyPr wrap="square" lIns="0" tIns="0" rIns="0" bIns="0" rtlCol="0" anchor="ctr"/>
          <a:lstStyle/>
          <a:p>
            <a:pPr algn="ctr" indent="0" marL="0">
              <a:buNone/>
            </a:pPr>
            <a:r>
              <a:rPr lang="en-US" sz="1800" dirty="0">
                <a:solidFill>
                  <a:srgbClr val="9AA7BC"/>
                </a:solidFill>
              </a:rPr>
              <a:t>→</a:t>
            </a:r>
            <a:endParaRPr lang="en-US" sz="1800" dirty="0"/>
          </a:p>
        </p:txBody>
      </p:sp>
      <p:sp>
        <p:nvSpPr>
          <p:cNvPr id="21" name="card-9.959999999999999-1.5"/>
          <p:cNvSpPr/>
          <p:nvPr/>
        </p:nvSpPr>
        <p:spPr>
          <a:xfrm>
            <a:off x="9107424" y="1371600"/>
            <a:ext cx="2606040" cy="2148840"/>
          </a:xfrm>
          <a:prstGeom prst="roundRect">
            <a:avLst>
              <a:gd name="adj" fmla="val 3404"/>
            </a:avLst>
          </a:prstGeom>
          <a:solidFill>
            <a:srgbClr val="E8F0F8"/>
          </a:solidFill>
          <a:ln w="12700">
            <a:solidFill>
              <a:srgbClr val="E8F0F8"/>
            </a:solidFill>
            <a:prstDash val="solid"/>
          </a:ln>
        </p:spPr>
      </p:sp>
      <p:sp>
        <p:nvSpPr>
          <p:cNvPr id="22" name="dot3"/>
          <p:cNvSpPr/>
          <p:nvPr/>
        </p:nvSpPr>
        <p:spPr>
          <a:xfrm>
            <a:off x="9308592" y="1581912"/>
            <a:ext cx="384048" cy="384048"/>
          </a:xfrm>
          <a:prstGeom prst="ellipse">
            <a:avLst/>
          </a:prstGeom>
          <a:solidFill>
            <a:srgbClr val="2E8B8B"/>
          </a:solidFill>
          <a:ln w="12700">
            <a:solidFill>
              <a:srgbClr val="2E8B8B"/>
            </a:solidFill>
            <a:prstDash val="solid"/>
          </a:ln>
        </p:spPr>
      </p:sp>
      <p:sp>
        <p:nvSpPr>
          <p:cNvPr id="23" name="Text 21"/>
          <p:cNvSpPr txBox="1"/>
          <p:nvPr/>
        </p:nvSpPr>
        <p:spPr>
          <a:xfrm>
            <a:off x="9308592" y="15819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4" name="Text 22"/>
          <p:cNvSpPr txBox="1"/>
          <p:nvPr/>
        </p:nvSpPr>
        <p:spPr>
          <a:xfrm>
            <a:off x="9802368" y="1600200"/>
            <a:ext cx="1783080" cy="365760"/>
          </a:xfrm>
          <a:prstGeom prst="rect">
            <a:avLst/>
          </a:prstGeom>
          <a:noFill/>
          <a:ln/>
        </p:spPr>
        <p:txBody>
          <a:bodyPr wrap="square" lIns="0" tIns="0" rIns="0" bIns="0" rtlCol="0" anchor="ctr"/>
          <a:lstStyle/>
          <a:p>
            <a:pPr indent="0" marL="0">
              <a:buNone/>
            </a:pPr>
            <a:r>
              <a:rPr lang="en-US" sz="1250" b="1" dirty="0">
                <a:solidFill>
                  <a:srgbClr val="2E8B8B"/>
                </a:solidFill>
              </a:rPr>
              <a:t>Shared aggregate</a:t>
            </a:r>
            <a:endParaRPr lang="en-US" sz="1250" dirty="0"/>
          </a:p>
        </p:txBody>
      </p:sp>
      <p:sp>
        <p:nvSpPr>
          <p:cNvPr id="25" name="Text 23"/>
          <p:cNvSpPr txBox="1"/>
          <p:nvPr/>
        </p:nvSpPr>
        <p:spPr>
          <a:xfrm>
            <a:off x="9308592" y="2103120"/>
            <a:ext cx="2194560" cy="1280160"/>
          </a:xfrm>
          <a:prstGeom prst="rect">
            <a:avLst/>
          </a:prstGeom>
          <a:noFill/>
          <a:ln/>
        </p:spPr>
        <p:txBody>
          <a:bodyPr wrap="square" lIns="0" tIns="0" rIns="0" bIns="0" rtlCol="0" anchor="ctr"/>
          <a:lstStyle/>
          <a:p>
            <a:pPr indent="0" marL="0">
              <a:buNone/>
            </a:pPr>
            <a:r>
              <a:rPr lang="en-US" sz="1100" dirty="0">
                <a:solidFill>
                  <a:schemeClr val="tx1"/>
                </a:solidFill>
              </a:rPr>
              <a:t>73,973,527 rows</a:t>
            </a:r>
            <a:endParaRPr lang="en-US" sz="1100" dirty="0"/>
          </a:p>
          <a:p>
            <a:pPr indent="0" marL="0">
              <a:buNone/>
            </a:pPr>
            <a:r>
              <a:rPr lang="en-US" sz="1100" dirty="0">
                <a:solidFill>
                  <a:schemeClr val="tx1"/>
                </a:solidFill>
              </a:rPr>
              <a:t>Every later result reads</a:t>
            </a:r>
            <a:endParaRPr lang="en-US" sz="1100" dirty="0"/>
          </a:p>
          <a:p>
            <a:pPr indent="0" marL="0">
              <a:buNone/>
            </a:pPr>
            <a:r>
              <a:rPr lang="en-US" sz="1100" dirty="0">
                <a:solidFill>
                  <a:schemeClr val="tx1"/>
                </a:solidFill>
              </a:rPr>
              <a:t>this, both authors</a:t>
            </a:r>
            <a:endParaRPr lang="en-US" sz="1100" dirty="0"/>
          </a:p>
        </p:txBody>
      </p:sp>
      <p:sp>
        <p:nvSpPr>
          <p:cNvPr id="26" name="card-0.6-4.05"/>
          <p:cNvSpPr/>
          <p:nvPr/>
        </p:nvSpPr>
        <p:spPr>
          <a:xfrm>
            <a:off x="548640" y="3703320"/>
            <a:ext cx="11064240" cy="1920240"/>
          </a:xfrm>
          <a:prstGeom prst="roundRect">
            <a:avLst>
              <a:gd name="adj" fmla="val 3810"/>
            </a:avLst>
          </a:prstGeom>
          <a:solidFill>
            <a:srgbClr val="EEF4F4"/>
          </a:solidFill>
          <a:ln w="12700">
            <a:solidFill>
              <a:srgbClr val="EEF4F4"/>
            </a:solidFill>
            <a:prstDash val="solid"/>
          </a:ln>
        </p:spPr>
      </p:sp>
      <p:sp>
        <p:nvSpPr>
          <p:cNvPr id="27" name="Text 25"/>
          <p:cNvSpPr txBox="1"/>
          <p:nvPr/>
        </p:nvSpPr>
        <p:spPr>
          <a:xfrm>
            <a:off x="868680" y="3886200"/>
            <a:ext cx="10424160" cy="320040"/>
          </a:xfrm>
          <a:prstGeom prst="rect">
            <a:avLst/>
          </a:prstGeom>
          <a:noFill/>
          <a:ln/>
        </p:spPr>
        <p:txBody>
          <a:bodyPr wrap="square" lIns="0" tIns="0" rIns="0" bIns="0" rtlCol="0" anchor="ctr"/>
          <a:lstStyle/>
          <a:p>
            <a:pPr indent="0" marL="0">
              <a:buNone/>
            </a:pPr>
            <a:r>
              <a:rPr lang="en-US" sz="1400" b="1" dirty="0">
                <a:solidFill>
                  <a:srgbClr val="2E8B8B"/>
                </a:solidFill>
              </a:rPr>
              <a:t>The charged zone set was derived from the data, not hard-coded</a:t>
            </a:r>
            <a:endParaRPr lang="en-US" sz="1400" dirty="0"/>
          </a:p>
        </p:txBody>
      </p:sp>
      <p:sp>
        <p:nvSpPr>
          <p:cNvPr id="28" name="Text 26"/>
          <p:cNvSpPr txBox="1"/>
          <p:nvPr/>
        </p:nvSpPr>
        <p:spPr>
          <a:xfrm>
            <a:off x="868680" y="4224528"/>
            <a:ext cx="10424160" cy="1234440"/>
          </a:xfrm>
          <a:prstGeom prst="rect">
            <a:avLst/>
          </a:prstGeom>
          <a:noFill/>
          <a:ln/>
        </p:spPr>
        <p:txBody>
          <a:bodyPr wrap="square" lIns="0" tIns="0" rIns="0" bIns="0" rtlCol="0" anchor="ctr"/>
          <a:lstStyle/>
          <a:p>
            <a:pPr indent="0" marL="0">
              <a:buNone/>
            </a:pPr>
            <a:r>
              <a:rPr lang="en-US" sz="1250" dirty="0">
                <a:solidFill>
                  <a:schemeClr val="tx1"/>
                </a:solidFill>
              </a:rPr>
              <a:t>In 2025 the cbd_congestion_fee column records which trips were charged. Grouping by destination zone gives the empirical charge rate per zone — a map-shuffle-reduce in itself. The distribution is strongly bimodal: 178 zones below 0.2, 38 above 0.8, only 29 in between. Those 38 zones were then applied backwards to 2024 to label trips that would have been charged, which is what makes a before-and-after comparison possible at all.</a:t>
            </a:r>
            <a:endParaRPr lang="en-US" sz="1250" dirty="0"/>
          </a:p>
        </p:txBody>
      </p:sp>
      <p:sp>
        <p:nvSpPr>
          <p:cNvPr id="30" name="Text 2"/>
          <p:cNvSpPr/>
          <p:nvPr>
            <p:ph idx="104" hasCustomPrompt="1"/>
          </p:nvPr>
        </p:nvSpPr>
        <p:spPr>
          <a:xfrm>
            <a:off x="10149840" y="6355080"/>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0241280" cy="566928"/>
          </a:xfrm>
          <a:prstGeom prst="rect">
            <a:avLst/>
          </a:prstGeom>
          <a:noFill/>
          <a:ln/>
        </p:spPr>
        <p:txBody>
          <a:bodyPr wrap="square" rtlCol="0" anchor="ctr"/>
          <a:lstStyle/>
          <a:p>
            <a:pPr algn="l" indent="0" marL="0">
              <a:buNone/>
            </a:pPr>
            <a:r>
              <a:rPr lang="en-US" sz="2500" b="1" dirty="0">
                <a:solidFill>
                  <a:srgbClr val="055BAA"/>
                </a:solidFill>
              </a:rPr>
              <a:t>The same aggregation, written twice</a:t>
            </a:r>
            <a:endParaRPr lang="en-US" sz="2500" dirty="0"/>
          </a:p>
        </p:txBody>
      </p:sp>
      <p:sp>
        <p:nvSpPr>
          <p:cNvPr id="3" name="card-0.6-1.35"/>
          <p:cNvSpPr/>
          <p:nvPr/>
        </p:nvSpPr>
        <p:spPr>
          <a:xfrm>
            <a:off x="548640" y="1234440"/>
            <a:ext cx="5440680" cy="2148840"/>
          </a:xfrm>
          <a:prstGeom prst="roundRect">
            <a:avLst>
              <a:gd name="adj" fmla="val 3404"/>
            </a:avLst>
          </a:prstGeom>
          <a:solidFill>
            <a:srgbClr val="E8F0F8"/>
          </a:solidFill>
          <a:ln w="12700">
            <a:solidFill>
              <a:srgbClr val="E8F0F8"/>
            </a:solidFill>
            <a:prstDash val="solid"/>
          </a:ln>
        </p:spPr>
      </p:sp>
      <p:sp>
        <p:nvSpPr>
          <p:cNvPr id="4" name="Text 2"/>
          <p:cNvSpPr txBox="1"/>
          <p:nvPr/>
        </p:nvSpPr>
        <p:spPr>
          <a:xfrm>
            <a:off x="822960" y="1399032"/>
            <a:ext cx="4937760" cy="274320"/>
          </a:xfrm>
          <a:prstGeom prst="rect">
            <a:avLst/>
          </a:prstGeom>
          <a:noFill/>
          <a:ln/>
        </p:spPr>
        <p:txBody>
          <a:bodyPr wrap="square" lIns="0" tIns="0" rIns="0" bIns="0" rtlCol="0" anchor="ctr"/>
          <a:lstStyle/>
          <a:p>
            <a:pPr indent="0" marL="0">
              <a:buNone/>
            </a:pPr>
            <a:r>
              <a:rPr lang="en-US" sz="1300" b="1" dirty="0">
                <a:solidFill>
                  <a:srgbClr val="C0504D"/>
                </a:solidFill>
              </a:rPr>
              <a:t>RDD — explicit Map → Shuffle → Reduce</a:t>
            </a:r>
            <a:endParaRPr lang="en-US" sz="1300" dirty="0"/>
          </a:p>
        </p:txBody>
      </p:sp>
      <p:sp>
        <p:nvSpPr>
          <p:cNvPr id="5" name="Text 3"/>
          <p:cNvSpPr txBox="1"/>
          <p:nvPr/>
        </p:nvSpPr>
        <p:spPr>
          <a:xfrm>
            <a:off x="822960" y="1737360"/>
            <a:ext cx="4937760" cy="868680"/>
          </a:xfrm>
          <a:prstGeom prst="rect">
            <a:avLst/>
          </a:prstGeom>
          <a:noFill/>
          <a:ln/>
        </p:spPr>
        <p:txBody>
          <a:bodyPr wrap="square" lIns="0" tIns="0" rIns="0" bIns="0" rtlCol="0" anchor="ctr"/>
          <a:lstStyle/>
          <a:p>
            <a:pPr indent="0" marL="0">
              <a:buNone/>
            </a:pPr>
            <a:r>
              <a:rPr lang="en-US" sz="1150" dirty="0">
                <a:solidFill>
                  <a:schemeClr val="tx1"/>
                </a:solidFill>
                <a:latin typeface="Courier New" pitchFamily="34" charset="0"/>
                <a:ea typeface="Courier New" pitchFamily="34" charset="-122"/>
                <a:cs typeface="Courier New" pitchFamily="34" charset="-120"/>
              </a:rPr>
              <a:t>.map(((zone, hour), (1, wait)))</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.reduceByKey(sum counts, sum waits)</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.map(partial sums → mean)</a:t>
            </a:r>
            <a:endParaRPr lang="en-US" sz="1150" dirty="0"/>
          </a:p>
        </p:txBody>
      </p:sp>
      <p:sp>
        <p:nvSpPr>
          <p:cNvPr id="6" name="Text 4"/>
          <p:cNvSpPr txBox="1"/>
          <p:nvPr/>
        </p:nvSpPr>
        <p:spPr>
          <a:xfrm>
            <a:off x="822960" y="2651760"/>
            <a:ext cx="4937760" cy="594360"/>
          </a:xfrm>
          <a:prstGeom prst="rect">
            <a:avLst/>
          </a:prstGeom>
          <a:noFill/>
          <a:ln/>
        </p:spPr>
        <p:txBody>
          <a:bodyPr wrap="square" lIns="0" tIns="0" rIns="0" bIns="0" rtlCol="0" anchor="ctr"/>
          <a:lstStyle/>
          <a:p>
            <a:pPr indent="0" marL="0">
              <a:buNone/>
            </a:pPr>
            <a:r>
              <a:rPr lang="en-US" sz="1150" i="1" dirty="0">
                <a:solidFill>
                  <a:srgbClr val="5A6880"/>
                </a:solidFill>
              </a:rPr>
              <a:t>reduceByKey combines locally before shuffling — exactly what a Hadoop Combiner does, but built in.</a:t>
            </a:r>
            <a:endParaRPr lang="en-US" sz="1150" dirty="0"/>
          </a:p>
        </p:txBody>
      </p:sp>
      <p:sp>
        <p:nvSpPr>
          <p:cNvPr id="7" name="card-6.75-1.35"/>
          <p:cNvSpPr/>
          <p:nvPr/>
        </p:nvSpPr>
        <p:spPr>
          <a:xfrm>
            <a:off x="6172200" y="1234440"/>
            <a:ext cx="5440680" cy="2148840"/>
          </a:xfrm>
          <a:prstGeom prst="roundRect">
            <a:avLst>
              <a:gd name="adj" fmla="val 3404"/>
            </a:avLst>
          </a:prstGeom>
          <a:solidFill>
            <a:srgbClr val="E8F0F8"/>
          </a:solidFill>
          <a:ln w="12700">
            <a:solidFill>
              <a:srgbClr val="E8F0F8"/>
            </a:solidFill>
            <a:prstDash val="solid"/>
          </a:ln>
        </p:spPr>
      </p:sp>
      <p:sp>
        <p:nvSpPr>
          <p:cNvPr id="8" name="Text 6"/>
          <p:cNvSpPr txBox="1"/>
          <p:nvPr/>
        </p:nvSpPr>
        <p:spPr>
          <a:xfrm>
            <a:off x="6446520" y="1399032"/>
            <a:ext cx="4937760" cy="274320"/>
          </a:xfrm>
          <a:prstGeom prst="rect">
            <a:avLst/>
          </a:prstGeom>
          <a:noFill/>
          <a:ln/>
        </p:spPr>
        <p:txBody>
          <a:bodyPr wrap="square" lIns="0" tIns="0" rIns="0" bIns="0" rtlCol="0" anchor="ctr"/>
          <a:lstStyle/>
          <a:p>
            <a:pPr indent="0" marL="0">
              <a:buNone/>
            </a:pPr>
            <a:r>
              <a:rPr lang="en-US" sz="1300" b="1" dirty="0">
                <a:solidFill>
                  <a:srgbClr val="055BAA"/>
                </a:solidFill>
              </a:rPr>
              <a:t>DataFrame — Catalyst optimised</a:t>
            </a:r>
            <a:endParaRPr lang="en-US" sz="1300" dirty="0"/>
          </a:p>
        </p:txBody>
      </p:sp>
      <p:sp>
        <p:nvSpPr>
          <p:cNvPr id="9" name="Text 7"/>
          <p:cNvSpPr txBox="1"/>
          <p:nvPr/>
        </p:nvSpPr>
        <p:spPr>
          <a:xfrm>
            <a:off x="6446520" y="1737360"/>
            <a:ext cx="4937760" cy="640080"/>
          </a:xfrm>
          <a:prstGeom prst="rect">
            <a:avLst/>
          </a:prstGeom>
          <a:noFill/>
          <a:ln/>
        </p:spPr>
        <p:txBody>
          <a:bodyPr wrap="square" lIns="0" tIns="0" rIns="0" bIns="0" rtlCol="0" anchor="ctr"/>
          <a:lstStyle/>
          <a:p>
            <a:pPr indent="0" marL="0">
              <a:buNone/>
            </a:pPr>
            <a:r>
              <a:rPr lang="en-US" sz="1150" dirty="0">
                <a:solidFill>
                  <a:schemeClr val="tx1"/>
                </a:solidFill>
                <a:latin typeface="Courier New" pitchFamily="34" charset="0"/>
                <a:ea typeface="Courier New" pitchFamily="34" charset="-122"/>
                <a:cs typeface="Courier New" pitchFamily="34" charset="-120"/>
              </a:rPr>
              <a:t>.groupBy("PULocationID", hour)</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.agg(count("*"), avg("wait_s"))</a:t>
            </a:r>
            <a:endParaRPr lang="en-US" sz="1150" dirty="0"/>
          </a:p>
        </p:txBody>
      </p:sp>
      <p:sp>
        <p:nvSpPr>
          <p:cNvPr id="10" name="Text 8"/>
          <p:cNvSpPr txBox="1"/>
          <p:nvPr/>
        </p:nvSpPr>
        <p:spPr>
          <a:xfrm>
            <a:off x="6446520" y="2651760"/>
            <a:ext cx="4937760" cy="594360"/>
          </a:xfrm>
          <a:prstGeom prst="rect">
            <a:avLst/>
          </a:prstGeom>
          <a:noFill/>
          <a:ln/>
        </p:spPr>
        <p:txBody>
          <a:bodyPr wrap="square" lIns="0" tIns="0" rIns="0" bIns="0" rtlCol="0" anchor="ctr"/>
          <a:lstStyle/>
          <a:p>
            <a:pPr indent="0" marL="0">
              <a:buNone/>
            </a:pPr>
            <a:r>
              <a:rPr lang="en-US" sz="1150" i="1" dirty="0">
                <a:solidFill>
                  <a:srgbClr val="5A6880"/>
                </a:solidFill>
              </a:rPr>
              <a:t>Catalyst inserts a partial HashAggregate before the Exchange and a final one after — automatic combining.</a:t>
            </a:r>
            <a:endParaRPr lang="en-US" sz="1150" dirty="0"/>
          </a:p>
        </p:txBody>
      </p:sp>
      <p:pic>
        <p:nvPicPr>
          <p:cNvPr id="11" name="Image 0" descr="/home/claude/deck/img/f8_rdd_df.png">    </p:cNvPr>
          <p:cNvPicPr>
            <a:picLocks noChangeAspect="1"/>
          </p:cNvPicPr>
          <p:nvPr/>
        </p:nvPicPr>
        <p:blipFill>
          <a:blip r:embed="rId1"/>
          <a:stretch>
            <a:fillRect/>
          </a:stretch>
        </p:blipFill>
        <p:spPr>
          <a:xfrm>
            <a:off x="685800" y="3520440"/>
            <a:ext cx="5212080" cy="1920240"/>
          </a:xfrm>
          <a:prstGeom prst="rect">
            <a:avLst/>
          </a:prstGeom>
        </p:spPr>
      </p:pic>
      <p:sp>
        <p:nvSpPr>
          <p:cNvPr id="12" name="card-6.9-3.85"/>
          <p:cNvSpPr/>
          <p:nvPr/>
        </p:nvSpPr>
        <p:spPr>
          <a:xfrm>
            <a:off x="6309360" y="3520440"/>
            <a:ext cx="5303520" cy="1920240"/>
          </a:xfrm>
          <a:prstGeom prst="roundRect">
            <a:avLst>
              <a:gd name="adj" fmla="val 3810"/>
            </a:avLst>
          </a:prstGeom>
          <a:solidFill>
            <a:srgbClr val="FBEEED"/>
          </a:solidFill>
          <a:ln w="12700">
            <a:solidFill>
              <a:srgbClr val="FBEEED"/>
            </a:solidFill>
            <a:prstDash val="solid"/>
          </a:ln>
        </p:spPr>
      </p:sp>
      <p:sp>
        <p:nvSpPr>
          <p:cNvPr id="13" name="Text 10"/>
          <p:cNvSpPr txBox="1"/>
          <p:nvPr/>
        </p:nvSpPr>
        <p:spPr>
          <a:xfrm>
            <a:off x="6583680" y="3675888"/>
            <a:ext cx="4846320" cy="274320"/>
          </a:xfrm>
          <a:prstGeom prst="rect">
            <a:avLst/>
          </a:prstGeom>
          <a:noFill/>
          <a:ln/>
        </p:spPr>
        <p:txBody>
          <a:bodyPr wrap="square" lIns="0" tIns="0" rIns="0" bIns="0" rtlCol="0" anchor="ctr"/>
          <a:lstStyle/>
          <a:p>
            <a:pPr indent="0" marL="0">
              <a:buNone/>
            </a:pPr>
            <a:r>
              <a:rPr lang="en-US" sz="1300" b="1" dirty="0">
                <a:solidFill>
                  <a:srgbClr val="C0504D"/>
                </a:solidFill>
              </a:rPr>
              <a:t>Both produced 6,143 identical keys — zero difference</a:t>
            </a:r>
            <a:endParaRPr lang="en-US" sz="1300" dirty="0"/>
          </a:p>
        </p:txBody>
      </p:sp>
      <p:sp>
        <p:nvSpPr>
          <p:cNvPr id="14" name="Text 11"/>
          <p:cNvSpPr txBox="1"/>
          <p:nvPr/>
        </p:nvSpPr>
        <p:spPr>
          <a:xfrm>
            <a:off x="6583680" y="4005072"/>
            <a:ext cx="4846320" cy="1325880"/>
          </a:xfrm>
          <a:prstGeom prst="rect">
            <a:avLst/>
          </a:prstGeom>
          <a:noFill/>
          <a:ln/>
        </p:spPr>
        <p:txBody>
          <a:bodyPr wrap="square" lIns="0" tIns="0" rIns="0" bIns="0" rtlCol="0" anchor="ctr"/>
          <a:lstStyle/>
          <a:p>
            <a:pPr indent="0" marL="0">
              <a:buNone/>
            </a:pPr>
            <a:r>
              <a:rPr lang="en-US" sz="1200" dirty="0">
                <a:solidFill>
                  <a:schemeClr val="tx1"/>
                </a:solidFill>
              </a:rPr>
              <a:t>The RDD path shuffled LESS data (558 KiB vs 1,061 KiB) yet ran 6.56× slower. So the gap is not shuffle volume — it is the JVM-to-Python process boundary. Every row must be serialised out to a Python worker and back; DataFrame operations compile to JVM bytecode and never leave.</a:t>
            </a:r>
            <a:endParaRPr lang="en-US" sz="1200" dirty="0"/>
          </a:p>
        </p:txBody>
      </p:sp>
      <p:sp>
        <p:nvSpPr>
          <p:cNvPr id="16" name="Text 2"/>
          <p:cNvSpPr/>
          <p:nvPr>
            <p:ph idx="104" hasCustomPrompt="1"/>
          </p:nvPr>
        </p:nvSpPr>
        <p:spPr>
          <a:xfrm>
            <a:off x="10149840" y="6355080"/>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0241280" cy="566928"/>
          </a:xfrm>
          <a:prstGeom prst="rect">
            <a:avLst/>
          </a:prstGeom>
          <a:noFill/>
          <a:ln/>
        </p:spPr>
        <p:txBody>
          <a:bodyPr wrap="square" rtlCol="0" anchor="ctr"/>
          <a:lstStyle/>
          <a:p>
            <a:pPr algn="l" indent="0" marL="0">
              <a:buNone/>
            </a:pPr>
            <a:r>
              <a:rPr lang="en-US" sz="2500" b="1" dirty="0">
                <a:solidFill>
                  <a:srgbClr val="055BAA"/>
                </a:solidFill>
              </a:rPr>
              <a:t>Distributed execution evidence</a:t>
            </a:r>
            <a:endParaRPr lang="en-US" sz="2500" dirty="0"/>
          </a:p>
        </p:txBody>
      </p:sp>
      <p:sp>
        <p:nvSpPr>
          <p:cNvPr id="3" name="Text 1"/>
          <p:cNvSpPr txBox="1"/>
          <p:nvPr/>
        </p:nvSpPr>
        <p:spPr>
          <a:xfrm>
            <a:off x="548640" y="1234440"/>
            <a:ext cx="2194560" cy="658368"/>
          </a:xfrm>
          <a:prstGeom prst="rect">
            <a:avLst/>
          </a:prstGeom>
          <a:noFill/>
          <a:ln/>
        </p:spPr>
        <p:txBody>
          <a:bodyPr wrap="square" lIns="0" tIns="0" rIns="0" bIns="0" rtlCol="0" anchor="ctr"/>
          <a:lstStyle/>
          <a:p>
            <a:pPr algn="ctr" indent="0" marL="0">
              <a:buNone/>
            </a:pPr>
            <a:r>
              <a:rPr lang="en-US" sz="3400" b="1" dirty="0">
                <a:solidFill>
                  <a:srgbClr val="055BAA"/>
                </a:solidFill>
              </a:rPr>
              <a:t>849</a:t>
            </a:r>
            <a:endParaRPr lang="en-US" sz="3400" dirty="0"/>
          </a:p>
        </p:txBody>
      </p:sp>
      <p:sp>
        <p:nvSpPr>
          <p:cNvPr id="4" name="Text 2"/>
          <p:cNvSpPr txBox="1"/>
          <p:nvPr/>
        </p:nvSpPr>
        <p:spPr>
          <a:xfrm>
            <a:off x="548640" y="1892808"/>
            <a:ext cx="2194560" cy="502920"/>
          </a:xfrm>
          <a:prstGeom prst="rect">
            <a:avLst/>
          </a:prstGeom>
          <a:noFill/>
          <a:ln/>
        </p:spPr>
        <p:txBody>
          <a:bodyPr wrap="square" lIns="0" tIns="0" rIns="0" bIns="0" rtlCol="0" anchor="ctr"/>
          <a:lstStyle/>
          <a:p>
            <a:pPr algn="ctr" indent="0" marL="0">
              <a:buNone/>
            </a:pPr>
            <a:r>
              <a:rPr lang="en-US" sz="1100" dirty="0">
                <a:solidFill>
                  <a:srgbClr val="5A6880"/>
                </a:solidFill>
              </a:rPr>
              <a:t>tasks completed</a:t>
            </a:r>
            <a:endParaRPr lang="en-US" sz="1100" dirty="0"/>
          </a:p>
          <a:p>
            <a:pPr algn="ctr" indent="0" marL="0">
              <a:buNone/>
            </a:pPr>
            <a:r>
              <a:rPr lang="en-US" sz="1100" dirty="0">
                <a:solidFill>
                  <a:srgbClr val="5A6880"/>
                </a:solidFill>
              </a:rPr>
              <a:t>zero failures</a:t>
            </a:r>
            <a:endParaRPr lang="en-US" sz="1100" dirty="0"/>
          </a:p>
        </p:txBody>
      </p:sp>
      <p:sp>
        <p:nvSpPr>
          <p:cNvPr id="5" name="Text 3"/>
          <p:cNvSpPr txBox="1"/>
          <p:nvPr/>
        </p:nvSpPr>
        <p:spPr>
          <a:xfrm>
            <a:off x="2880360" y="1234440"/>
            <a:ext cx="2194560" cy="658368"/>
          </a:xfrm>
          <a:prstGeom prst="rect">
            <a:avLst/>
          </a:prstGeom>
          <a:noFill/>
          <a:ln/>
        </p:spPr>
        <p:txBody>
          <a:bodyPr wrap="square" lIns="0" tIns="0" rIns="0" bIns="0" rtlCol="0" anchor="ctr"/>
          <a:lstStyle/>
          <a:p>
            <a:pPr algn="ctr" indent="0" marL="0">
              <a:buNone/>
            </a:pPr>
            <a:r>
              <a:rPr lang="en-US" sz="3400" b="1" dirty="0">
                <a:solidFill>
                  <a:srgbClr val="055BAA"/>
                </a:solidFill>
              </a:rPr>
              <a:t>120.5 GiB</a:t>
            </a:r>
            <a:endParaRPr lang="en-US" sz="3400" dirty="0"/>
          </a:p>
        </p:txBody>
      </p:sp>
      <p:sp>
        <p:nvSpPr>
          <p:cNvPr id="6" name="Text 4"/>
          <p:cNvSpPr txBox="1"/>
          <p:nvPr/>
        </p:nvSpPr>
        <p:spPr>
          <a:xfrm>
            <a:off x="2880360" y="1892808"/>
            <a:ext cx="2194560" cy="502920"/>
          </a:xfrm>
          <a:prstGeom prst="rect">
            <a:avLst/>
          </a:prstGeom>
          <a:noFill/>
          <a:ln/>
        </p:spPr>
        <p:txBody>
          <a:bodyPr wrap="square" lIns="0" tIns="0" rIns="0" bIns="0" rtlCol="0" anchor="ctr"/>
          <a:lstStyle/>
          <a:p>
            <a:pPr algn="ctr" indent="0" marL="0">
              <a:buNone/>
            </a:pPr>
            <a:r>
              <a:rPr lang="en-US" sz="1100" dirty="0">
                <a:solidFill>
                  <a:srgbClr val="5A6880"/>
                </a:solidFill>
              </a:rPr>
              <a:t>total input</a:t>
            </a:r>
            <a:endParaRPr lang="en-US" sz="1100" dirty="0"/>
          </a:p>
          <a:p>
            <a:pPr algn="ctr" indent="0" marL="0">
              <a:buNone/>
            </a:pPr>
            <a:r>
              <a:rPr lang="en-US" sz="1100" dirty="0">
                <a:solidFill>
                  <a:srgbClr val="5A6880"/>
                </a:solidFill>
              </a:rPr>
              <a:t>read from disk</a:t>
            </a:r>
            <a:endParaRPr lang="en-US" sz="1100" dirty="0"/>
          </a:p>
        </p:txBody>
      </p:sp>
      <p:sp>
        <p:nvSpPr>
          <p:cNvPr id="7" name="Text 5"/>
          <p:cNvSpPr txBox="1"/>
          <p:nvPr/>
        </p:nvSpPr>
        <p:spPr>
          <a:xfrm>
            <a:off x="5212080" y="1234440"/>
            <a:ext cx="2194560" cy="658368"/>
          </a:xfrm>
          <a:prstGeom prst="rect">
            <a:avLst/>
          </a:prstGeom>
          <a:noFill/>
          <a:ln/>
        </p:spPr>
        <p:txBody>
          <a:bodyPr wrap="square" lIns="0" tIns="0" rIns="0" bIns="0" rtlCol="0" anchor="ctr"/>
          <a:lstStyle/>
          <a:p>
            <a:pPr algn="ctr" indent="0" marL="0">
              <a:buNone/>
            </a:pPr>
            <a:r>
              <a:rPr lang="en-US" sz="3400" b="1" dirty="0">
                <a:solidFill>
                  <a:srgbClr val="C0504D"/>
                </a:solidFill>
              </a:rPr>
              <a:t>7.2 GiB</a:t>
            </a:r>
            <a:endParaRPr lang="en-US" sz="3400" dirty="0"/>
          </a:p>
        </p:txBody>
      </p:sp>
      <p:sp>
        <p:nvSpPr>
          <p:cNvPr id="8" name="Text 6"/>
          <p:cNvSpPr txBox="1"/>
          <p:nvPr/>
        </p:nvSpPr>
        <p:spPr>
          <a:xfrm>
            <a:off x="5212080" y="1892808"/>
            <a:ext cx="2194560" cy="502920"/>
          </a:xfrm>
          <a:prstGeom prst="rect">
            <a:avLst/>
          </a:prstGeom>
          <a:noFill/>
          <a:ln/>
        </p:spPr>
        <p:txBody>
          <a:bodyPr wrap="square" lIns="0" tIns="0" rIns="0" bIns="0" rtlCol="0" anchor="ctr"/>
          <a:lstStyle/>
          <a:p>
            <a:pPr algn="ctr" indent="0" marL="0">
              <a:buNone/>
            </a:pPr>
            <a:r>
              <a:rPr lang="en-US" sz="1100" dirty="0">
                <a:solidFill>
                  <a:srgbClr val="5A6880"/>
                </a:solidFill>
              </a:rPr>
              <a:t>shuffled —</a:t>
            </a:r>
            <a:endParaRPr lang="en-US" sz="1100" dirty="0"/>
          </a:p>
          <a:p>
            <a:pPr algn="ctr" indent="0" marL="0">
              <a:buNone/>
            </a:pPr>
            <a:r>
              <a:rPr lang="en-US" sz="1100" dirty="0">
                <a:solidFill>
                  <a:srgbClr val="5A6880"/>
                </a:solidFill>
              </a:rPr>
              <a:t>just 6% of input</a:t>
            </a:r>
            <a:endParaRPr lang="en-US" sz="1100" dirty="0"/>
          </a:p>
        </p:txBody>
      </p:sp>
      <p:sp>
        <p:nvSpPr>
          <p:cNvPr id="9" name="Text 7"/>
          <p:cNvSpPr txBox="1"/>
          <p:nvPr/>
        </p:nvSpPr>
        <p:spPr>
          <a:xfrm>
            <a:off x="7543800" y="1234440"/>
            <a:ext cx="2194560" cy="658368"/>
          </a:xfrm>
          <a:prstGeom prst="rect">
            <a:avLst/>
          </a:prstGeom>
          <a:noFill/>
          <a:ln/>
        </p:spPr>
        <p:txBody>
          <a:bodyPr wrap="square" lIns="0" tIns="0" rIns="0" bIns="0" rtlCol="0" anchor="ctr"/>
          <a:lstStyle/>
          <a:p>
            <a:pPr algn="ctr" indent="0" marL="0">
              <a:buNone/>
            </a:pPr>
            <a:r>
              <a:rPr lang="en-US" sz="3400" b="1" dirty="0">
                <a:solidFill>
                  <a:srgbClr val="2E8B8B"/>
                </a:solidFill>
              </a:rPr>
              <a:t>30 of 80</a:t>
            </a:r>
            <a:endParaRPr lang="en-US" sz="3400" dirty="0"/>
          </a:p>
        </p:txBody>
      </p:sp>
      <p:sp>
        <p:nvSpPr>
          <p:cNvPr id="10" name="Text 8"/>
          <p:cNvSpPr txBox="1"/>
          <p:nvPr/>
        </p:nvSpPr>
        <p:spPr>
          <a:xfrm>
            <a:off x="7543800" y="1892808"/>
            <a:ext cx="2194560" cy="502920"/>
          </a:xfrm>
          <a:prstGeom prst="rect">
            <a:avLst/>
          </a:prstGeom>
          <a:noFill/>
          <a:ln/>
        </p:spPr>
        <p:txBody>
          <a:bodyPr wrap="square" lIns="0" tIns="0" rIns="0" bIns="0" rtlCol="0" anchor="ctr"/>
          <a:lstStyle/>
          <a:p>
            <a:pPr algn="ctr" indent="0" marL="0">
              <a:buNone/>
            </a:pPr>
            <a:r>
              <a:rPr lang="en-US" sz="1100" dirty="0">
                <a:solidFill>
                  <a:srgbClr val="5A6880"/>
                </a:solidFill>
              </a:rPr>
              <a:t>stages skipped</a:t>
            </a:r>
            <a:endParaRPr lang="en-US" sz="1100" dirty="0"/>
          </a:p>
          <a:p>
            <a:pPr algn="ctr" indent="0" marL="0">
              <a:buNone/>
            </a:pPr>
            <a:r>
              <a:rPr lang="en-US" sz="1100" dirty="0">
                <a:solidFill>
                  <a:srgbClr val="5A6880"/>
                </a:solidFill>
              </a:rPr>
              <a:t>via reuse</a:t>
            </a:r>
            <a:endParaRPr lang="en-US" sz="1100" dirty="0"/>
          </a:p>
        </p:txBody>
      </p:sp>
      <p:sp>
        <p:nvSpPr>
          <p:cNvPr id="11" name="Text 9"/>
          <p:cNvSpPr txBox="1"/>
          <p:nvPr/>
        </p:nvSpPr>
        <p:spPr>
          <a:xfrm>
            <a:off x="9875520" y="1234440"/>
            <a:ext cx="2194560" cy="658368"/>
          </a:xfrm>
          <a:prstGeom prst="rect">
            <a:avLst/>
          </a:prstGeom>
          <a:noFill/>
          <a:ln/>
        </p:spPr>
        <p:txBody>
          <a:bodyPr wrap="square" lIns="0" tIns="0" rIns="0" bIns="0" rtlCol="0" anchor="ctr"/>
          <a:lstStyle/>
          <a:p>
            <a:pPr algn="ctr" indent="0" marL="0">
              <a:buNone/>
            </a:pPr>
            <a:r>
              <a:rPr lang="en-US" sz="3400" b="1" dirty="0">
                <a:solidFill>
                  <a:srgbClr val="E0A33E"/>
                </a:solidFill>
              </a:rPr>
              <a:t>306×</a:t>
            </a:r>
            <a:endParaRPr lang="en-US" sz="3400" dirty="0"/>
          </a:p>
        </p:txBody>
      </p:sp>
      <p:sp>
        <p:nvSpPr>
          <p:cNvPr id="12" name="Text 10"/>
          <p:cNvSpPr txBox="1"/>
          <p:nvPr/>
        </p:nvSpPr>
        <p:spPr>
          <a:xfrm>
            <a:off x="9875520" y="1892808"/>
            <a:ext cx="2194560" cy="502920"/>
          </a:xfrm>
          <a:prstGeom prst="rect">
            <a:avLst/>
          </a:prstGeom>
          <a:noFill/>
          <a:ln/>
        </p:spPr>
        <p:txBody>
          <a:bodyPr wrap="square" lIns="0" tIns="0" rIns="0" bIns="0" rtlCol="0" anchor="ctr"/>
          <a:lstStyle/>
          <a:p>
            <a:pPr algn="ctr" indent="0" marL="0">
              <a:buNone/>
            </a:pPr>
            <a:r>
              <a:rPr lang="en-US" sz="1100" dirty="0">
                <a:solidFill>
                  <a:srgbClr val="5A6880"/>
                </a:solidFill>
              </a:rPr>
              <a:t>shuffle reduction</a:t>
            </a:r>
            <a:endParaRPr lang="en-US" sz="1100" dirty="0"/>
          </a:p>
          <a:p>
            <a:pPr algn="ctr" indent="0" marL="0">
              <a:buNone/>
            </a:pPr>
            <a:r>
              <a:rPr lang="en-US" sz="1100" dirty="0">
                <a:solidFill>
                  <a:srgbClr val="5A6880"/>
                </a:solidFill>
              </a:rPr>
              <a:t>from combining</a:t>
            </a:r>
            <a:endParaRPr lang="en-US" sz="1100" dirty="0"/>
          </a:p>
        </p:txBody>
      </p:sp>
      <p:sp>
        <p:nvSpPr>
          <p:cNvPr id="13" name="card-0.6-3.1"/>
          <p:cNvSpPr/>
          <p:nvPr/>
        </p:nvSpPr>
        <p:spPr>
          <a:xfrm>
            <a:off x="548640" y="2834640"/>
            <a:ext cx="5440680" cy="2788920"/>
          </a:xfrm>
          <a:prstGeom prst="roundRect">
            <a:avLst>
              <a:gd name="adj" fmla="val 2623"/>
            </a:avLst>
          </a:prstGeom>
          <a:solidFill>
            <a:srgbClr val="E8F0F8"/>
          </a:solidFill>
          <a:ln w="12700">
            <a:solidFill>
              <a:srgbClr val="E8F0F8"/>
            </a:solidFill>
            <a:prstDash val="solid"/>
          </a:ln>
        </p:spPr>
      </p:sp>
      <p:sp>
        <p:nvSpPr>
          <p:cNvPr id="14" name="Text 12"/>
          <p:cNvSpPr txBox="1"/>
          <p:nvPr/>
        </p:nvSpPr>
        <p:spPr>
          <a:xfrm>
            <a:off x="822960" y="3017520"/>
            <a:ext cx="4937760" cy="274320"/>
          </a:xfrm>
          <a:prstGeom prst="rect">
            <a:avLst/>
          </a:prstGeom>
          <a:noFill/>
          <a:ln/>
        </p:spPr>
        <p:txBody>
          <a:bodyPr wrap="square" lIns="0" tIns="0" rIns="0" bIns="0" rtlCol="0" anchor="ctr"/>
          <a:lstStyle/>
          <a:p>
            <a:pPr indent="0" marL="0">
              <a:buNone/>
            </a:pPr>
            <a:r>
              <a:rPr lang="en-US" sz="1400" b="1" dirty="0">
                <a:solidFill>
                  <a:srgbClr val="055BAA"/>
                </a:solidFill>
              </a:rPr>
              <a:t>Captured from the Spark UI</a:t>
            </a:r>
            <a:endParaRPr lang="en-US" sz="1400" dirty="0"/>
          </a:p>
        </p:txBody>
      </p:sp>
      <p:sp>
        <p:nvSpPr>
          <p:cNvPr id="15" name="Text 13"/>
          <p:cNvSpPr txBox="1"/>
          <p:nvPr/>
        </p:nvSpPr>
        <p:spPr>
          <a:xfrm>
            <a:off x="822960" y="3364992"/>
            <a:ext cx="4937760" cy="2103120"/>
          </a:xfrm>
          <a:prstGeom prst="rect">
            <a:avLst/>
          </a:prstGeom>
          <a:noFill/>
          <a:ln/>
        </p:spPr>
        <p:txBody>
          <a:bodyPr wrap="square" rtlCol="0" anchor="ctr"/>
          <a:lstStyle/>
          <a:p>
            <a:pPr marL="342900" indent="-342900">
              <a:spcAft>
                <a:spcPts val="800"/>
              </a:spcAft>
              <a:buSzPct val="100000"/>
              <a:buChar char="•"/>
            </a:pPr>
            <a:r>
              <a:rPr lang="en-US" sz="1200" dirty="0">
                <a:solidFill>
                  <a:schemeClr val="tx1"/>
                </a:solidFill>
              </a:rPr>
              <a:t>DAG visualisation and stage timeline across 8 cores</a:t>
            </a:r>
            <a:endParaRPr lang="en-US" sz="1200" dirty="0"/>
          </a:p>
          <a:p>
            <a:pPr marL="342900" indent="-342900">
              <a:spcAft>
                <a:spcPts val="800"/>
              </a:spcAft>
              <a:buSzPct val="100000"/>
              <a:buChar char="•"/>
            </a:pPr>
            <a:r>
              <a:rPr lang="en-US" sz="1200" dirty="0">
                <a:solidFill>
                  <a:schemeClr val="tx1"/>
                </a:solidFill>
              </a:rPr>
              <a:t>Exchange hashpartitioning as the single shuffle boundary</a:t>
            </a:r>
            <a:endParaRPr lang="en-US" sz="1200" dirty="0"/>
          </a:p>
          <a:p>
            <a:pPr marL="342900" indent="-342900">
              <a:spcAft>
                <a:spcPts val="800"/>
              </a:spcAft>
              <a:buSzPct val="100000"/>
              <a:buChar char="•"/>
            </a:pPr>
            <a:r>
              <a:rPr lang="en-US" sz="1200" dirty="0">
                <a:solidFill>
                  <a:schemeClr val="tx1"/>
                </a:solidFill>
              </a:rPr>
              <a:t>Adaptive query execution coalesced 256 partitions to 96 at runtime</a:t>
            </a:r>
            <a:endParaRPr lang="en-US" sz="1200" dirty="0"/>
          </a:p>
          <a:p>
            <a:pPr marL="342900" indent="-342900">
              <a:spcAft>
                <a:spcPts val="800"/>
              </a:spcAft>
              <a:buSzPct val="100000"/>
              <a:buChar char="•"/>
            </a:pPr>
            <a:r>
              <a:rPr lang="en-US" sz="1200" dirty="0">
                <a:solidFill>
                  <a:schemeClr val="tx1"/>
                </a:solidFill>
              </a:rPr>
              <a:t>Cached frame: 26.1 GiB on disk, 0 B in memory — spilled rather than failed</a:t>
            </a:r>
            <a:endParaRPr lang="en-US" sz="1200" dirty="0"/>
          </a:p>
        </p:txBody>
      </p:sp>
      <p:sp>
        <p:nvSpPr>
          <p:cNvPr id="16" name="card-6.75-3.1"/>
          <p:cNvSpPr/>
          <p:nvPr/>
        </p:nvSpPr>
        <p:spPr>
          <a:xfrm>
            <a:off x="6172200" y="2834640"/>
            <a:ext cx="5440680" cy="2788920"/>
          </a:xfrm>
          <a:prstGeom prst="roundRect">
            <a:avLst>
              <a:gd name="adj" fmla="val 2623"/>
            </a:avLst>
          </a:prstGeom>
          <a:solidFill>
            <a:srgbClr val="FDF6E9"/>
          </a:solidFill>
          <a:ln w="12700">
            <a:solidFill>
              <a:srgbClr val="FDF6E9"/>
            </a:solidFill>
            <a:prstDash val="solid"/>
          </a:ln>
        </p:spPr>
      </p:sp>
      <p:sp>
        <p:nvSpPr>
          <p:cNvPr id="17" name="Text 15"/>
          <p:cNvSpPr txBox="1"/>
          <p:nvPr/>
        </p:nvSpPr>
        <p:spPr>
          <a:xfrm>
            <a:off x="6446520" y="3017520"/>
            <a:ext cx="4937760" cy="274320"/>
          </a:xfrm>
          <a:prstGeom prst="rect">
            <a:avLst/>
          </a:prstGeom>
          <a:noFill/>
          <a:ln/>
        </p:spPr>
        <p:txBody>
          <a:bodyPr wrap="square" lIns="0" tIns="0" rIns="0" bIns="0" rtlCol="0" anchor="ctr"/>
          <a:lstStyle/>
          <a:p>
            <a:pPr indent="0" marL="0">
              <a:buNone/>
            </a:pPr>
            <a:r>
              <a:rPr lang="en-US" sz="1400" b="1" dirty="0">
                <a:solidFill>
                  <a:srgbClr val="9A6E18"/>
                </a:solidFill>
              </a:rPr>
              <a:t>What Hadoop would have cost</a:t>
            </a:r>
            <a:endParaRPr lang="en-US" sz="1400" dirty="0"/>
          </a:p>
        </p:txBody>
      </p:sp>
      <p:sp>
        <p:nvSpPr>
          <p:cNvPr id="18" name="Text 16"/>
          <p:cNvSpPr txBox="1"/>
          <p:nvPr/>
        </p:nvSpPr>
        <p:spPr>
          <a:xfrm>
            <a:off x="6446520" y="3364992"/>
            <a:ext cx="4937760" cy="1371600"/>
          </a:xfrm>
          <a:prstGeom prst="rect">
            <a:avLst/>
          </a:prstGeom>
          <a:noFill/>
          <a:ln/>
        </p:spPr>
        <p:txBody>
          <a:bodyPr wrap="square" lIns="0" tIns="0" rIns="0" bIns="0" rtlCol="0" anchor="ctr"/>
          <a:lstStyle/>
          <a:p>
            <a:pPr indent="0" marL="0">
              <a:buNone/>
            </a:pPr>
            <a:r>
              <a:rPr lang="en-US" sz="1250" dirty="0">
                <a:solidFill>
                  <a:schemeClr val="tx1"/>
                </a:solidFill>
              </a:rPr>
              <a:t>Hadoop MapReduce writes every stage boundary to HDFS, replicated three times by default, then reads it back. Our 7.2 GiB of shuffle would become roughly 21.6 GiB of extra write traffic — none of which Spark incurs, because it pipelines in memory and only spills under pressure.</a:t>
            </a:r>
            <a:endParaRPr lang="en-US" sz="1250" dirty="0"/>
          </a:p>
        </p:txBody>
      </p:sp>
      <p:sp>
        <p:nvSpPr>
          <p:cNvPr id="19" name="Text 17"/>
          <p:cNvSpPr txBox="1"/>
          <p:nvPr/>
        </p:nvSpPr>
        <p:spPr>
          <a:xfrm>
            <a:off x="6446520" y="4800600"/>
            <a:ext cx="4937760" cy="685800"/>
          </a:xfrm>
          <a:prstGeom prst="rect">
            <a:avLst/>
          </a:prstGeom>
          <a:noFill/>
          <a:ln/>
        </p:spPr>
        <p:txBody>
          <a:bodyPr wrap="square" lIns="0" tIns="0" rIns="0" bIns="0" rtlCol="0" anchor="ctr"/>
          <a:lstStyle/>
          <a:p>
            <a:pPr indent="0" marL="0">
              <a:buNone/>
            </a:pPr>
            <a:r>
              <a:rPr lang="en-US" sz="1200" i="1" dirty="0">
                <a:solidFill>
                  <a:srgbClr val="5A6880"/>
                </a:solidFill>
              </a:rPr>
              <a:t>The 30 skipped stages have no Hadoop equivalent at all — a chained pipeline recomputes from input every time.</a:t>
            </a:r>
            <a:endParaRPr lang="en-US" sz="1200" dirty="0"/>
          </a:p>
        </p:txBody>
      </p:sp>
      <p:sp>
        <p:nvSpPr>
          <p:cNvPr id="21" name="Text 2"/>
          <p:cNvSpPr/>
          <p:nvPr>
            <p:ph idx="104" hasCustomPrompt="1"/>
          </p:nvPr>
        </p:nvSpPr>
        <p:spPr>
          <a:xfrm>
            <a:off x="10149840" y="6355080"/>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0241280" cy="566928"/>
          </a:xfrm>
          <a:prstGeom prst="rect">
            <a:avLst/>
          </a:prstGeom>
          <a:noFill/>
          <a:ln/>
        </p:spPr>
        <p:txBody>
          <a:bodyPr wrap="square" rtlCol="0" anchor="ctr"/>
          <a:lstStyle/>
          <a:p>
            <a:pPr algn="l" indent="0" marL="0">
              <a:buNone/>
            </a:pPr>
            <a:r>
              <a:rPr lang="en-US" sz="2500" b="1" dirty="0">
                <a:solidFill>
                  <a:srgbClr val="055BAA"/>
                </a:solidFill>
              </a:rPr>
              <a:t>Spark's DAG versus the Map → Shuffle → Reduce model</a:t>
            </a:r>
            <a:endParaRPr lang="en-US" sz="2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55680" cy="914400"/>
        </p:xfrm>
        <a:graphic>
          <a:graphicData uri="http://schemas.openxmlformats.org/drawingml/2006/table">
            <a:tbl>
              <a:tblPr/>
              <a:tblGrid>
                <a:gridCol w="2103120"/>
                <a:gridCol w="4206240"/>
                <a:gridCol w="4754880"/>
              </a:tblGrid>
              <a:tr h="475488">
                <a:tc>
                  <a:txBody>
                    <a:bodyPr/>
                    <a:lstStyle/>
                    <a:p>
                      <a:pPr indent="0" marL="0">
                        <a:buNone/>
                      </a:pPr>
                      <a:endParaRPr lang="en-US" sz="125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rgbClr val="055BAA"/>
                    </a:solidFill>
                  </a:tcPr>
                </a:tc>
                <a:tc>
                  <a:txBody>
                    <a:bodyPr/>
                    <a:lstStyle/>
                    <a:p>
                      <a:pPr indent="0" marL="0">
                        <a:buNone/>
                      </a:pPr>
                      <a:r>
                        <a:rPr lang="en-US" sz="1250" b="1" dirty="0">
                          <a:solidFill>
                            <a:srgbClr val="FFFFFF"/>
                          </a:solidFill>
                        </a:rPr>
                        <a:t>Hadoop MapReduce</a:t>
                      </a:r>
                      <a:endParaRPr lang="en-US" sz="125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rgbClr val="055BAA"/>
                    </a:solidFill>
                  </a:tcPr>
                </a:tc>
                <a:tc>
                  <a:txBody>
                    <a:bodyPr/>
                    <a:lstStyle/>
                    <a:p>
                      <a:pPr indent="0" marL="0">
                        <a:buNone/>
                      </a:pPr>
                      <a:r>
                        <a:rPr lang="en-US" sz="1250" b="1" dirty="0">
                          <a:solidFill>
                            <a:srgbClr val="FFFFFF"/>
                          </a:solidFill>
                        </a:rPr>
                        <a:t>Spark (observed in this run)</a:t>
                      </a:r>
                      <a:endParaRPr lang="en-US" sz="125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solidFill>
                      <a:srgbClr val="055BAA"/>
                    </a:solidFill>
                  </a:tcPr>
                </a:tc>
              </a:tr>
              <a:tr h="475488">
                <a:tc>
                  <a:txBody>
                    <a:bodyPr/>
                    <a:lstStyle/>
                    <a:p>
                      <a:pPr indent="0" marL="0">
                        <a:buNone/>
                      </a:pPr>
                      <a:r>
                        <a:rPr lang="en-US" sz="1250" b="1" dirty="0">
                          <a:solidFill>
                            <a:schemeClr val="tx1"/>
                          </a:solidFill>
                        </a:rPr>
                        <a:t>Execution unit</a:t>
                      </a:r>
                      <a:endParaRPr lang="en-US" sz="125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250" dirty="0">
                          <a:solidFill>
                            <a:schemeClr val="tx1"/>
                          </a:solidFill>
                        </a:rPr>
                        <a:t>One fixed Map → Shuffle → Reduce per job</a:t>
                      </a:r>
                      <a:endParaRPr lang="en-US" sz="125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250" dirty="0">
                          <a:solidFill>
                            <a:schemeClr val="tx1"/>
                          </a:solidFill>
                        </a:rPr>
                        <a:t>Arbitrary DAG of stages; boundaries only at shuffles</a:t>
                      </a:r>
                      <a:endParaRPr lang="en-US" sz="125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r h="475488">
                <a:tc>
                  <a:txBody>
                    <a:bodyPr/>
                    <a:lstStyle/>
                    <a:p>
                      <a:pPr indent="0" marL="0">
                        <a:buNone/>
                      </a:pPr>
                      <a:r>
                        <a:rPr lang="en-US" sz="1250" b="1" dirty="0">
                          <a:solidFill>
                            <a:schemeClr val="tx1"/>
                          </a:solidFill>
                        </a:rPr>
                        <a:t>Between stages</a:t>
                      </a:r>
                      <a:endParaRPr lang="en-US" sz="125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250" dirty="0">
                          <a:solidFill>
                            <a:schemeClr val="tx1"/>
                          </a:solidFill>
                        </a:rPr>
                        <a:t>Written to HDFS, re-read, 3× replicated</a:t>
                      </a:r>
                      <a:endParaRPr lang="en-US" sz="125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250" dirty="0">
                          <a:solidFill>
                            <a:schemeClr val="tx1"/>
                          </a:solidFill>
                        </a:rPr>
                        <a:t>Pipelined in memory; spills to disk only under pressure</a:t>
                      </a:r>
                      <a:endParaRPr lang="en-US" sz="125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r h="475488">
                <a:tc>
                  <a:txBody>
                    <a:bodyPr/>
                    <a:lstStyle/>
                    <a:p>
                      <a:pPr indent="0" marL="0">
                        <a:buNone/>
                      </a:pPr>
                      <a:r>
                        <a:rPr lang="en-US" sz="1250" b="1" dirty="0">
                          <a:solidFill>
                            <a:schemeClr val="tx1"/>
                          </a:solidFill>
                        </a:rPr>
                        <a:t>Combining</a:t>
                      </a:r>
                      <a:endParaRPr lang="en-US" sz="125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250" dirty="0">
                          <a:solidFill>
                            <a:schemeClr val="tx1"/>
                          </a:solidFill>
                        </a:rPr>
                        <a:t>Combiner must be written by hand</a:t>
                      </a:r>
                      <a:endParaRPr lang="en-US" sz="125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250" dirty="0">
                          <a:solidFill>
                            <a:schemeClr val="tx1"/>
                          </a:solidFill>
                        </a:rPr>
                        <a:t>Catalyst inserts partial/final HashAggregate automatically</a:t>
                      </a:r>
                      <a:endParaRPr lang="en-US" sz="125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r h="475488">
                <a:tc>
                  <a:txBody>
                    <a:bodyPr/>
                    <a:lstStyle/>
                    <a:p>
                      <a:pPr indent="0" marL="0">
                        <a:buNone/>
                      </a:pPr>
                      <a:r>
                        <a:rPr lang="en-US" sz="1250" b="1" dirty="0">
                          <a:solidFill>
                            <a:schemeClr val="tx1"/>
                          </a:solidFill>
                        </a:rPr>
                        <a:t>Joins</a:t>
                      </a:r>
                      <a:endParaRPr lang="en-US" sz="125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250" dirty="0">
                          <a:solidFill>
                            <a:schemeClr val="tx1"/>
                          </a:solidFill>
                        </a:rPr>
                        <a:t>Always a full shuffle of both inputs</a:t>
                      </a:r>
                      <a:endParaRPr lang="en-US" sz="125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250" dirty="0">
                          <a:solidFill>
                            <a:schemeClr val="tx1"/>
                          </a:solidFill>
                        </a:rPr>
                        <a:t>265-row zone lookup broadcast; large side never shuffled</a:t>
                      </a:r>
                      <a:endParaRPr lang="en-US" sz="125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r h="475488">
                <a:tc>
                  <a:txBody>
                    <a:bodyPr/>
                    <a:lstStyle/>
                    <a:p>
                      <a:pPr indent="0" marL="0">
                        <a:buNone/>
                      </a:pPr>
                      <a:r>
                        <a:rPr lang="en-US" sz="1250" b="1" dirty="0">
                          <a:solidFill>
                            <a:schemeClr val="tx1"/>
                          </a:solidFill>
                        </a:rPr>
                        <a:t>Planning</a:t>
                      </a:r>
                      <a:endParaRPr lang="en-US" sz="125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250" dirty="0">
                          <a:solidFill>
                            <a:schemeClr val="tx1"/>
                          </a:solidFill>
                        </a:rPr>
                        <a:t>Eager, fixed at submission</a:t>
                      </a:r>
                      <a:endParaRPr lang="en-US" sz="125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c>
                  <a:txBody>
                    <a:bodyPr/>
                    <a:lstStyle/>
                    <a:p>
                      <a:pPr indent="0" marL="0">
                        <a:buNone/>
                      </a:pPr>
                      <a:r>
                        <a:rPr lang="en-US" sz="1250" dirty="0">
                          <a:solidFill>
                            <a:schemeClr val="tx1"/>
                          </a:solidFill>
                        </a:rPr>
                        <a:t>Lazy; AQE re-planned 256 partitions to 96 mid-flight</a:t>
                      </a:r>
                      <a:endParaRPr lang="en-US" sz="1250" dirty="0"/>
                    </a:p>
                  </a:txBody>
                  <a:tcPr marL="91440" marR="91440" marT="45720" marB="45720" anchor="ctr">
                    <a:lnL w="6350" cap="flat" cmpd="sng" algn="ctr">
                      <a:solidFill>
                        <a:srgbClr val="D5DCE8"/>
                      </a:solidFill>
                      <a:prstDash val="solid"/>
                      <a:round/>
                      <a:headEnd type="none" w="med" len="med"/>
                      <a:tailEnd type="none" w="med" len="med"/>
                    </a:lnL>
                    <a:lnR w="6350" cap="flat" cmpd="sng" algn="ctr">
                      <a:solidFill>
                        <a:srgbClr val="D5DCE8"/>
                      </a:solidFill>
                      <a:prstDash val="solid"/>
                      <a:round/>
                      <a:headEnd type="none" w="med" len="med"/>
                      <a:tailEnd type="none" w="med" len="med"/>
                    </a:lnR>
                    <a:lnT w="6350" cap="flat" cmpd="sng" algn="ctr">
                      <a:solidFill>
                        <a:srgbClr val="D5DCE8"/>
                      </a:solidFill>
                      <a:prstDash val="solid"/>
                      <a:round/>
                      <a:headEnd type="none" w="med" len="med"/>
                      <a:tailEnd type="none" w="med" len="med"/>
                    </a:lnT>
                    <a:lnB w="6350" cap="flat" cmpd="sng" algn="ctr">
                      <a:solidFill>
                        <a:srgbClr val="D5DCE8"/>
                      </a:solidFill>
                      <a:prstDash val="solid"/>
                      <a:round/>
                      <a:headEnd type="none" w="med" len="med"/>
                      <a:tailEnd type="none" w="med" len="med"/>
                    </a:lnB>
                  </a:tcPr>
                </a:tc>
              </a:tr>
            </a:tbl>
          </a:graphicData>
        </a:graphic>
      </p:graphicFrame>
      <p:sp>
        <p:nvSpPr>
          <p:cNvPr id="4" name="card-0.6-5.3"/>
          <p:cNvSpPr/>
          <p:nvPr/>
        </p:nvSpPr>
        <p:spPr>
          <a:xfrm>
            <a:off x="548640" y="4846320"/>
            <a:ext cx="11064240" cy="868680"/>
          </a:xfrm>
          <a:prstGeom prst="roundRect">
            <a:avLst>
              <a:gd name="adj" fmla="val 8421"/>
            </a:avLst>
          </a:prstGeom>
          <a:solidFill>
            <a:srgbClr val="EEF4F4"/>
          </a:solidFill>
          <a:ln w="12700">
            <a:solidFill>
              <a:srgbClr val="EEF4F4"/>
            </a:solidFill>
            <a:prstDash val="solid"/>
          </a:ln>
        </p:spPr>
      </p:sp>
      <p:sp>
        <p:nvSpPr>
          <p:cNvPr id="5" name="Text 2"/>
          <p:cNvSpPr txBox="1"/>
          <p:nvPr/>
        </p:nvSpPr>
        <p:spPr>
          <a:xfrm>
            <a:off x="868680" y="5010912"/>
            <a:ext cx="10424160" cy="548640"/>
          </a:xfrm>
          <a:prstGeom prst="rect">
            <a:avLst/>
          </a:prstGeom>
          <a:noFill/>
          <a:ln/>
        </p:spPr>
        <p:txBody>
          <a:bodyPr wrap="square" lIns="0" tIns="0" rIns="0" bIns="0" rtlCol="0" anchor="ctr"/>
          <a:lstStyle/>
          <a:p>
            <a:pPr indent="0" marL="0">
              <a:buNone/>
            </a:pPr>
            <a:r>
              <a:rPr lang="en-US" sz="1300" b="1" dirty="0">
                <a:solidFill>
                  <a:srgbClr val="2E8B8B"/>
                </a:solidFill>
              </a:rPr>
              <a:t>Every row of this table is evidenced from our own execution plans and stage metrics — not quoted from documentation</a:t>
            </a:r>
            <a:endParaRPr lang="en-US" sz="1300" dirty="0"/>
          </a:p>
        </p:txBody>
      </p:sp>
      <p:sp>
        <p:nvSpPr>
          <p:cNvPr id="7" name="Text 2"/>
          <p:cNvSpPr/>
          <p:nvPr>
            <p:ph idx="104" hasCustomPrompt="1"/>
          </p:nvPr>
        </p:nvSpPr>
        <p:spPr>
          <a:xfrm>
            <a:off x="10149840" y="6355080"/>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0241280" cy="566928"/>
          </a:xfrm>
          <a:prstGeom prst="rect">
            <a:avLst/>
          </a:prstGeom>
          <a:noFill/>
          <a:ln/>
        </p:spPr>
        <p:txBody>
          <a:bodyPr wrap="square" rtlCol="0" anchor="ctr"/>
          <a:lstStyle/>
          <a:p>
            <a:pPr algn="l" indent="0" marL="0">
              <a:buNone/>
            </a:pPr>
            <a:r>
              <a:rPr lang="en-US" sz="2500" b="1" dirty="0">
                <a:solidFill>
                  <a:srgbClr val="055BAA"/>
                </a:solidFill>
              </a:rPr>
              <a:t>Thread A: congestion pricing did less than the headline suggests</a:t>
            </a:r>
            <a:endParaRPr lang="en-US" sz="2500" dirty="0"/>
          </a:p>
        </p:txBody>
      </p:sp>
      <p:pic>
        <p:nvPicPr>
          <p:cNvPr id="3" name="Image 0" descr="/home/claude/deck/img/f1_volume.png">    </p:cNvPr>
          <p:cNvPicPr>
            <a:picLocks noChangeAspect="1"/>
          </p:cNvPicPr>
          <p:nvPr/>
        </p:nvPicPr>
        <p:blipFill>
          <a:blip r:embed="rId1"/>
          <a:stretch>
            <a:fillRect/>
          </a:stretch>
        </p:blipFill>
        <p:spPr>
          <a:xfrm>
            <a:off x="548640" y="1207008"/>
            <a:ext cx="7315200" cy="2468880"/>
          </a:xfrm>
          <a:prstGeom prst="rect">
            <a:avLst/>
          </a:prstGeom>
        </p:spPr>
      </p:pic>
      <p:sp>
        <p:nvSpPr>
          <p:cNvPr id="4" name="card-8.85-1.32"/>
          <p:cNvSpPr/>
          <p:nvPr/>
        </p:nvSpPr>
        <p:spPr>
          <a:xfrm>
            <a:off x="8092440" y="1207008"/>
            <a:ext cx="3520440" cy="2468880"/>
          </a:xfrm>
          <a:prstGeom prst="roundRect">
            <a:avLst>
              <a:gd name="adj" fmla="val 2963"/>
            </a:avLst>
          </a:prstGeom>
          <a:solidFill>
            <a:srgbClr val="FBEEED"/>
          </a:solidFill>
          <a:ln w="12700">
            <a:solidFill>
              <a:srgbClr val="FBEEED"/>
            </a:solidFill>
            <a:prstDash val="solid"/>
          </a:ln>
        </p:spPr>
      </p:sp>
      <p:sp>
        <p:nvSpPr>
          <p:cNvPr id="5" name="Text 2"/>
          <p:cNvSpPr txBox="1"/>
          <p:nvPr/>
        </p:nvSpPr>
        <p:spPr>
          <a:xfrm>
            <a:off x="8366760" y="1362456"/>
            <a:ext cx="3017520" cy="274320"/>
          </a:xfrm>
          <a:prstGeom prst="rect">
            <a:avLst/>
          </a:prstGeom>
          <a:noFill/>
          <a:ln/>
        </p:spPr>
        <p:txBody>
          <a:bodyPr wrap="square" lIns="0" tIns="0" rIns="0" bIns="0" rtlCol="0" anchor="ctr"/>
          <a:lstStyle/>
          <a:p>
            <a:pPr indent="0" marL="0">
              <a:buNone/>
            </a:pPr>
            <a:r>
              <a:rPr lang="en-US" sz="1300" b="1" dirty="0">
                <a:solidFill>
                  <a:srgbClr val="C0504D"/>
                </a:solidFill>
              </a:rPr>
              <a:t>The naive read</a:t>
            </a:r>
            <a:endParaRPr lang="en-US" sz="1300" dirty="0"/>
          </a:p>
        </p:txBody>
      </p:sp>
      <p:sp>
        <p:nvSpPr>
          <p:cNvPr id="6" name="Text 3"/>
          <p:cNvSpPr txBox="1"/>
          <p:nvPr/>
        </p:nvSpPr>
        <p:spPr>
          <a:xfrm>
            <a:off x="8366760" y="1691640"/>
            <a:ext cx="3017520" cy="868680"/>
          </a:xfrm>
          <a:prstGeom prst="rect">
            <a:avLst/>
          </a:prstGeom>
          <a:noFill/>
          <a:ln/>
        </p:spPr>
        <p:txBody>
          <a:bodyPr wrap="square" lIns="0" tIns="0" rIns="0" bIns="0" rtlCol="0" anchor="ctr"/>
          <a:lstStyle/>
          <a:p>
            <a:pPr indent="0" marL="0">
              <a:buNone/>
            </a:pPr>
            <a:r>
              <a:rPr lang="en-US" sz="1200" dirty="0">
                <a:solidFill>
                  <a:schemeClr val="tx1"/>
                </a:solidFill>
              </a:rPr>
              <a:t>CBD trips fell 4.39% while non-CBD rose 4.40% — a difference of 8.79 percentage points. Dramatic, and misleading.</a:t>
            </a:r>
            <a:endParaRPr lang="en-US" sz="1200" dirty="0"/>
          </a:p>
        </p:txBody>
      </p:sp>
      <p:sp>
        <p:nvSpPr>
          <p:cNvPr id="7" name="Text 4"/>
          <p:cNvSpPr txBox="1"/>
          <p:nvPr/>
        </p:nvSpPr>
        <p:spPr>
          <a:xfrm>
            <a:off x="8366760" y="2542032"/>
            <a:ext cx="3017520" cy="274320"/>
          </a:xfrm>
          <a:prstGeom prst="rect">
            <a:avLst/>
          </a:prstGeom>
          <a:noFill/>
          <a:ln/>
        </p:spPr>
        <p:txBody>
          <a:bodyPr wrap="square" lIns="0" tIns="0" rIns="0" bIns="0" rtlCol="0" anchor="ctr"/>
          <a:lstStyle/>
          <a:p>
            <a:pPr indent="0" marL="0">
              <a:buNone/>
            </a:pPr>
            <a:r>
              <a:rPr lang="en-US" sz="1300" b="1" dirty="0">
                <a:solidFill>
                  <a:srgbClr val="055BAA"/>
                </a:solidFill>
              </a:rPr>
              <a:t>The honest read</a:t>
            </a:r>
            <a:endParaRPr lang="en-US" sz="1300" dirty="0"/>
          </a:p>
        </p:txBody>
      </p:sp>
      <p:sp>
        <p:nvSpPr>
          <p:cNvPr id="8" name="Text 5"/>
          <p:cNvSpPr txBox="1"/>
          <p:nvPr/>
        </p:nvSpPr>
        <p:spPr>
          <a:xfrm>
            <a:off x="8366760" y="2871216"/>
            <a:ext cx="3017520" cy="777240"/>
          </a:xfrm>
          <a:prstGeom prst="rect">
            <a:avLst/>
          </a:prstGeom>
          <a:noFill/>
          <a:ln/>
        </p:spPr>
        <p:txBody>
          <a:bodyPr wrap="square" lIns="0" tIns="0" rIns="0" bIns="0" rtlCol="0" anchor="ctr"/>
          <a:lstStyle/>
          <a:p>
            <a:pPr indent="0" marL="0">
              <a:buNone/>
            </a:pPr>
            <a:r>
              <a:rPr lang="en-US" sz="1200" dirty="0">
                <a:solidFill>
                  <a:schemeClr val="tx1"/>
                </a:solidFill>
              </a:rPr>
              <a:t>The share was already falling at 0.103 pp/month through 2024. No step at the policy date. Residual: 0.72 pp.</a:t>
            </a:r>
            <a:endParaRPr lang="en-US" sz="1200" dirty="0"/>
          </a:p>
        </p:txBody>
      </p:sp>
      <p:sp>
        <p:nvSpPr>
          <p:cNvPr id="9" name="Text 6"/>
          <p:cNvSpPr txBox="1"/>
          <p:nvPr/>
        </p:nvSpPr>
        <p:spPr>
          <a:xfrm>
            <a:off x="548640" y="3931920"/>
            <a:ext cx="2606040" cy="658368"/>
          </a:xfrm>
          <a:prstGeom prst="rect">
            <a:avLst/>
          </a:prstGeom>
          <a:noFill/>
          <a:ln/>
        </p:spPr>
        <p:txBody>
          <a:bodyPr wrap="square" lIns="0" tIns="0" rIns="0" bIns="0" rtlCol="0" anchor="ctr"/>
          <a:lstStyle/>
          <a:p>
            <a:pPr algn="ctr" indent="0" marL="0">
              <a:buNone/>
            </a:pPr>
            <a:r>
              <a:rPr lang="en-US" sz="3400" b="1" dirty="0">
                <a:solidFill>
                  <a:srgbClr val="2E8B8B"/>
                </a:solidFill>
              </a:rPr>
              <a:t>+0.21 pp</a:t>
            </a:r>
            <a:endParaRPr lang="en-US" sz="3400" dirty="0"/>
          </a:p>
        </p:txBody>
      </p:sp>
      <p:sp>
        <p:nvSpPr>
          <p:cNvPr id="10" name="Text 7"/>
          <p:cNvSpPr txBox="1"/>
          <p:nvPr/>
        </p:nvSpPr>
        <p:spPr>
          <a:xfrm>
            <a:off x="548640" y="4590288"/>
            <a:ext cx="2606040" cy="502920"/>
          </a:xfrm>
          <a:prstGeom prst="rect">
            <a:avLst/>
          </a:prstGeom>
          <a:noFill/>
          <a:ln/>
        </p:spPr>
        <p:txBody>
          <a:bodyPr wrap="square" lIns="0" tIns="0" rIns="0" bIns="0" rtlCol="0" anchor="ctr"/>
          <a:lstStyle/>
          <a:p>
            <a:pPr algn="ctr" indent="0" marL="0">
              <a:buNone/>
            </a:pPr>
            <a:r>
              <a:rPr lang="en-US" sz="1100" dirty="0">
                <a:solidFill>
                  <a:srgbClr val="5A6880"/>
                </a:solidFill>
              </a:rPr>
              <a:t>share CHANGE from Dec 2024</a:t>
            </a:r>
            <a:endParaRPr lang="en-US" sz="1100" dirty="0"/>
          </a:p>
          <a:p>
            <a:pPr algn="ctr" indent="0" marL="0">
              <a:buNone/>
            </a:pPr>
            <a:r>
              <a:rPr lang="en-US" sz="1100" dirty="0">
                <a:solidFill>
                  <a:srgbClr val="5A6880"/>
                </a:solidFill>
              </a:rPr>
              <a:t>to Jan 2025 — it rose</a:t>
            </a:r>
            <a:endParaRPr lang="en-US" sz="1100" dirty="0"/>
          </a:p>
        </p:txBody>
      </p:sp>
      <p:sp>
        <p:nvSpPr>
          <p:cNvPr id="11" name="Text 8"/>
          <p:cNvSpPr txBox="1"/>
          <p:nvPr/>
        </p:nvSpPr>
        <p:spPr>
          <a:xfrm>
            <a:off x="3383280" y="3931920"/>
            <a:ext cx="2606040" cy="658368"/>
          </a:xfrm>
          <a:prstGeom prst="rect">
            <a:avLst/>
          </a:prstGeom>
          <a:noFill/>
          <a:ln/>
        </p:spPr>
        <p:txBody>
          <a:bodyPr wrap="square" lIns="0" tIns="0" rIns="0" bIns="0" rtlCol="0" anchor="ctr"/>
          <a:lstStyle/>
          <a:p>
            <a:pPr algn="ctr" indent="0" marL="0">
              <a:buNone/>
            </a:pPr>
            <a:r>
              <a:rPr lang="en-US" sz="3400" b="1" dirty="0">
                <a:solidFill>
                  <a:srgbClr val="C0504D"/>
                </a:solidFill>
              </a:rPr>
              <a:t>−0.72 pp</a:t>
            </a:r>
            <a:endParaRPr lang="en-US" sz="3400" dirty="0"/>
          </a:p>
        </p:txBody>
      </p:sp>
      <p:sp>
        <p:nvSpPr>
          <p:cNvPr id="12" name="Text 9"/>
          <p:cNvSpPr txBox="1"/>
          <p:nvPr/>
        </p:nvSpPr>
        <p:spPr>
          <a:xfrm>
            <a:off x="3383280" y="4590288"/>
            <a:ext cx="2606040" cy="502920"/>
          </a:xfrm>
          <a:prstGeom prst="rect">
            <a:avLst/>
          </a:prstGeom>
          <a:noFill/>
          <a:ln/>
        </p:spPr>
        <p:txBody>
          <a:bodyPr wrap="square" lIns="0" tIns="0" rIns="0" bIns="0" rtlCol="0" anchor="ctr"/>
          <a:lstStyle/>
          <a:p>
            <a:pPr algn="ctr" indent="0" marL="0">
              <a:buNone/>
            </a:pPr>
            <a:r>
              <a:rPr lang="en-US" sz="1100" dirty="0">
                <a:solidFill>
                  <a:srgbClr val="5A6880"/>
                </a:solidFill>
              </a:rPr>
              <a:t>residual once the 2024</a:t>
            </a:r>
            <a:endParaRPr lang="en-US" sz="1100" dirty="0"/>
          </a:p>
          <a:p>
            <a:pPr algn="ctr" indent="0" marL="0">
              <a:buNone/>
            </a:pPr>
            <a:r>
              <a:rPr lang="en-US" sz="1100" dirty="0">
                <a:solidFill>
                  <a:srgbClr val="5A6880"/>
                </a:solidFill>
              </a:rPr>
              <a:t>trend is extrapolated</a:t>
            </a:r>
            <a:endParaRPr lang="en-US" sz="1100" dirty="0"/>
          </a:p>
        </p:txBody>
      </p:sp>
      <p:sp>
        <p:nvSpPr>
          <p:cNvPr id="13" name="Text 10"/>
          <p:cNvSpPr txBox="1"/>
          <p:nvPr/>
        </p:nvSpPr>
        <p:spPr>
          <a:xfrm>
            <a:off x="6217920" y="3931920"/>
            <a:ext cx="2606040" cy="658368"/>
          </a:xfrm>
          <a:prstGeom prst="rect">
            <a:avLst/>
          </a:prstGeom>
          <a:noFill/>
          <a:ln/>
        </p:spPr>
        <p:txBody>
          <a:bodyPr wrap="square" lIns="0" tIns="0" rIns="0" bIns="0" rtlCol="0" anchor="ctr"/>
          <a:lstStyle/>
          <a:p>
            <a:pPr algn="ctr" indent="0" marL="0">
              <a:buNone/>
            </a:pPr>
            <a:r>
              <a:rPr lang="en-US" sz="3400" b="1" dirty="0">
                <a:solidFill>
                  <a:srgbClr val="E0A33E"/>
                </a:solidFill>
              </a:rPr>
              <a:t>$117.1M</a:t>
            </a:r>
            <a:endParaRPr lang="en-US" sz="3400" dirty="0"/>
          </a:p>
        </p:txBody>
      </p:sp>
      <p:sp>
        <p:nvSpPr>
          <p:cNvPr id="14" name="Text 11"/>
          <p:cNvSpPr txBox="1"/>
          <p:nvPr/>
        </p:nvSpPr>
        <p:spPr>
          <a:xfrm>
            <a:off x="6217920" y="4590288"/>
            <a:ext cx="2606040" cy="502920"/>
          </a:xfrm>
          <a:prstGeom prst="rect">
            <a:avLst/>
          </a:prstGeom>
          <a:noFill/>
          <a:ln/>
        </p:spPr>
        <p:txBody>
          <a:bodyPr wrap="square" lIns="0" tIns="0" rIns="0" bIns="0" rtlCol="0" anchor="ctr"/>
          <a:lstStyle/>
          <a:p>
            <a:pPr algn="ctr" indent="0" marL="0">
              <a:buNone/>
            </a:pPr>
            <a:r>
              <a:rPr lang="en-US" sz="1100" dirty="0">
                <a:solidFill>
                  <a:srgbClr val="5A6880"/>
                </a:solidFill>
              </a:rPr>
              <a:t>revenue raised in</a:t>
            </a:r>
            <a:endParaRPr lang="en-US" sz="1100" dirty="0"/>
          </a:p>
          <a:p>
            <a:pPr algn="ctr" indent="0" marL="0">
              <a:buNone/>
            </a:pPr>
            <a:r>
              <a:rPr lang="en-US" sz="1100" dirty="0">
                <a:solidFill>
                  <a:srgbClr val="5A6880"/>
                </a:solidFill>
              </a:rPr>
              <a:t>the first year</a:t>
            </a:r>
            <a:endParaRPr lang="en-US" sz="1100" dirty="0"/>
          </a:p>
        </p:txBody>
      </p:sp>
      <p:sp>
        <p:nvSpPr>
          <p:cNvPr id="15" name="Text 12"/>
          <p:cNvSpPr txBox="1"/>
          <p:nvPr/>
        </p:nvSpPr>
        <p:spPr>
          <a:xfrm>
            <a:off x="9052560" y="3931920"/>
            <a:ext cx="2606040" cy="658368"/>
          </a:xfrm>
          <a:prstGeom prst="rect">
            <a:avLst/>
          </a:prstGeom>
          <a:noFill/>
          <a:ln/>
        </p:spPr>
        <p:txBody>
          <a:bodyPr wrap="square" lIns="0" tIns="0" rIns="0" bIns="0" rtlCol="0" anchor="ctr"/>
          <a:lstStyle/>
          <a:p>
            <a:pPr algn="ctr" indent="0" marL="0">
              <a:buNone/>
            </a:pPr>
            <a:r>
              <a:rPr lang="en-US" sz="3400" b="1" dirty="0">
                <a:solidFill>
                  <a:srgbClr val="055BAA"/>
                </a:solidFill>
              </a:rPr>
              <a:t>+7.5%</a:t>
            </a:r>
            <a:endParaRPr lang="en-US" sz="3400" dirty="0"/>
          </a:p>
        </p:txBody>
      </p:sp>
      <p:sp>
        <p:nvSpPr>
          <p:cNvPr id="16" name="Text 13"/>
          <p:cNvSpPr txBox="1"/>
          <p:nvPr/>
        </p:nvSpPr>
        <p:spPr>
          <a:xfrm>
            <a:off x="9052560" y="4590288"/>
            <a:ext cx="2606040" cy="502920"/>
          </a:xfrm>
          <a:prstGeom prst="rect">
            <a:avLst/>
          </a:prstGeom>
          <a:noFill/>
          <a:ln/>
        </p:spPr>
        <p:txBody>
          <a:bodyPr wrap="square" lIns="0" tIns="0" rIns="0" bIns="0" rtlCol="0" anchor="ctr"/>
          <a:lstStyle/>
          <a:p>
            <a:pPr algn="ctr" indent="0" marL="0">
              <a:buNone/>
            </a:pPr>
            <a:r>
              <a:rPr lang="en-US" sz="1100" dirty="0">
                <a:solidFill>
                  <a:srgbClr val="5A6880"/>
                </a:solidFill>
              </a:rPr>
              <a:t>CBD mean fare rise;</a:t>
            </a:r>
            <a:endParaRPr lang="en-US" sz="1100" dirty="0"/>
          </a:p>
          <a:p>
            <a:pPr algn="ctr" indent="0" marL="0">
              <a:buNone/>
            </a:pPr>
            <a:r>
              <a:rPr lang="en-US" sz="1100" dirty="0">
                <a:solidFill>
                  <a:srgbClr val="5A6880"/>
                </a:solidFill>
              </a:rPr>
              <a:t>non-CBD fares flat</a:t>
            </a:r>
            <a:endParaRPr lang="en-US" sz="1100" dirty="0"/>
          </a:p>
        </p:txBody>
      </p:sp>
      <p:sp>
        <p:nvSpPr>
          <p:cNvPr id="17" name="card-0.6-5.85"/>
          <p:cNvSpPr/>
          <p:nvPr/>
        </p:nvSpPr>
        <p:spPr>
          <a:xfrm>
            <a:off x="548640" y="5349240"/>
            <a:ext cx="11064240" cy="822960"/>
          </a:xfrm>
          <a:prstGeom prst="roundRect">
            <a:avLst>
              <a:gd name="adj" fmla="val 8889"/>
            </a:avLst>
          </a:prstGeom>
          <a:solidFill>
            <a:srgbClr val="E8F0F8"/>
          </a:solidFill>
          <a:ln w="12700">
            <a:solidFill>
              <a:srgbClr val="E8F0F8"/>
            </a:solidFill>
            <a:prstDash val="solid"/>
          </a:ln>
        </p:spPr>
      </p:sp>
      <p:sp>
        <p:nvSpPr>
          <p:cNvPr id="18" name="Text 15"/>
          <p:cNvSpPr txBox="1"/>
          <p:nvPr/>
        </p:nvSpPr>
        <p:spPr>
          <a:xfrm>
            <a:off x="868680" y="5486400"/>
            <a:ext cx="10424160" cy="594360"/>
          </a:xfrm>
          <a:prstGeom prst="rect">
            <a:avLst/>
          </a:prstGeom>
          <a:noFill/>
          <a:ln/>
        </p:spPr>
        <p:txBody>
          <a:bodyPr wrap="square" lIns="0" tIns="0" rIns="0" bIns="0" rtlCol="0" anchor="ctr"/>
          <a:lstStyle/>
          <a:p>
            <a:pPr indent="0" marL="0">
              <a:buNone/>
            </a:pPr>
            <a:r>
              <a:rPr lang="en-US" sz="1200" b="1" dirty="0">
                <a:solidFill>
                  <a:srgbClr val="055BAA"/>
                </a:solidFill>
              </a:rPr>
              <a:t>Conclusion:  </a:t>
            </a:r>
            <a:pPr indent="0" marL="0">
              <a:buNone/>
            </a:pPr>
            <a:r>
              <a:rPr lang="en-US" sz="1200" dirty="0">
                <a:solidFill>
                  <a:schemeClr val="tx1"/>
                </a:solidFill>
              </a:rPr>
              <a:t>the fee raised revenue and was passed to riders — $1.50 accounts for 64% of the $2.33 fare increase — but produced no volume reduction distinguishable from the pre-existing trend. Boundary zones grew 0.79% against 5.26% for outer zones, so riders did not stop short of the cordon either.</a:t>
            </a:r>
            <a:endParaRPr lang="en-US" sz="1200" dirty="0"/>
          </a:p>
        </p:txBody>
      </p:sp>
      <p:sp>
        <p:nvSpPr>
          <p:cNvPr id="20" name="Text 2"/>
          <p:cNvSpPr/>
          <p:nvPr>
            <p:ph idx="104" hasCustomPrompt="1"/>
          </p:nvPr>
        </p:nvSpPr>
        <p:spPr>
          <a:xfrm>
            <a:off x="10149840" y="6355080"/>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0241280" cy="566928"/>
          </a:xfrm>
          <a:prstGeom prst="rect">
            <a:avLst/>
          </a:prstGeom>
          <a:noFill/>
          <a:ln/>
        </p:spPr>
        <p:txBody>
          <a:bodyPr wrap="square" rtlCol="0" anchor="ctr"/>
          <a:lstStyle/>
          <a:p>
            <a:pPr algn="l" indent="0" marL="0">
              <a:buNone/>
            </a:pPr>
            <a:r>
              <a:rPr lang="en-US" sz="2500" b="1" dirty="0">
                <a:solidFill>
                  <a:srgbClr val="055BAA"/>
                </a:solidFill>
              </a:rPr>
              <a:t>Who paid: a flat fee has unequal incidence</a:t>
            </a:r>
            <a:endParaRPr lang="en-US" sz="2500" dirty="0"/>
          </a:p>
        </p:txBody>
      </p:sp>
      <p:pic>
        <p:nvPicPr>
          <p:cNvPr id="3" name="Image 0" descr="/home/claude/deck/img/f3_fee.png">    </p:cNvPr>
          <p:cNvPicPr>
            <a:picLocks noChangeAspect="1"/>
          </p:cNvPicPr>
          <p:nvPr/>
        </p:nvPicPr>
        <p:blipFill>
          <a:blip r:embed="rId1"/>
          <a:stretch>
            <a:fillRect/>
          </a:stretch>
        </p:blipFill>
        <p:spPr>
          <a:xfrm>
            <a:off x="548640" y="1234440"/>
            <a:ext cx="6949440" cy="2240280"/>
          </a:xfrm>
          <a:prstGeom prst="rect">
            <a:avLst/>
          </a:prstGeom>
        </p:spPr>
      </p:pic>
      <p:sp>
        <p:nvSpPr>
          <p:cNvPr id="4" name="card-8.5-1.4"/>
          <p:cNvSpPr/>
          <p:nvPr/>
        </p:nvSpPr>
        <p:spPr>
          <a:xfrm>
            <a:off x="7772400" y="1280160"/>
            <a:ext cx="3840480" cy="2240280"/>
          </a:xfrm>
          <a:prstGeom prst="roundRect">
            <a:avLst>
              <a:gd name="adj" fmla="val 3265"/>
            </a:avLst>
          </a:prstGeom>
          <a:solidFill>
            <a:srgbClr val="E8F0F8"/>
          </a:solidFill>
          <a:ln w="12700">
            <a:solidFill>
              <a:srgbClr val="E8F0F8"/>
            </a:solidFill>
            <a:prstDash val="solid"/>
          </a:ln>
        </p:spPr>
      </p:sp>
      <p:sp>
        <p:nvSpPr>
          <p:cNvPr id="5" name="Text 2"/>
          <p:cNvSpPr txBox="1"/>
          <p:nvPr/>
        </p:nvSpPr>
        <p:spPr>
          <a:xfrm>
            <a:off x="8046720" y="1463040"/>
            <a:ext cx="3291840" cy="274320"/>
          </a:xfrm>
          <a:prstGeom prst="rect">
            <a:avLst/>
          </a:prstGeom>
          <a:noFill/>
          <a:ln/>
        </p:spPr>
        <p:txBody>
          <a:bodyPr wrap="square" lIns="0" tIns="0" rIns="0" bIns="0" rtlCol="0" anchor="ctr"/>
          <a:lstStyle/>
          <a:p>
            <a:pPr indent="0" marL="0">
              <a:buNone/>
            </a:pPr>
            <a:r>
              <a:rPr lang="en-US" sz="1300" b="1" dirty="0">
                <a:solidFill>
                  <a:srgbClr val="055BAA"/>
                </a:solidFill>
              </a:rPr>
              <a:t>Two true statements</a:t>
            </a:r>
            <a:endParaRPr lang="en-US" sz="1300" dirty="0"/>
          </a:p>
        </p:txBody>
      </p:sp>
      <p:sp>
        <p:nvSpPr>
          <p:cNvPr id="6" name="Text 3"/>
          <p:cNvSpPr txBox="1"/>
          <p:nvPr/>
        </p:nvSpPr>
        <p:spPr>
          <a:xfrm>
            <a:off x="8046720" y="1783080"/>
            <a:ext cx="3291840" cy="1645920"/>
          </a:xfrm>
          <a:prstGeom prst="rect">
            <a:avLst/>
          </a:prstGeom>
          <a:noFill/>
          <a:ln/>
        </p:spPr>
        <p:txBody>
          <a:bodyPr wrap="square" lIns="0" tIns="0" rIns="0" bIns="0" rtlCol="0" anchor="ctr"/>
          <a:lstStyle/>
          <a:p>
            <a:pPr indent="0" marL="0">
              <a:buNone/>
            </a:pPr>
            <a:r>
              <a:rPr lang="en-US" sz="1150" dirty="0">
                <a:solidFill>
                  <a:schemeClr val="tx1"/>
                </a:solidFill>
              </a:rPr>
              <a:t>Per charged trip the $1.50 is 7.98% of a Bronx fare but 5.17% of a Manhattan one — a 1.54× spread falling hardest on the lowest fares.</a:t>
            </a:r>
            <a:endParaRPr lang="en-US" sz="1150" dirty="0"/>
          </a:p>
          <a:p>
            <a:pPr indent="0" marL="0">
              <a:buNone/>
            </a:pPr>
            <a:endParaRPr lang="en-US" sz="1150" dirty="0"/>
          </a:p>
          <a:p>
            <a:pPr indent="0" marL="0">
              <a:buNone/>
            </a:pPr>
            <a:r>
              <a:rPr lang="en-US" sz="1150" dirty="0">
                <a:solidFill>
                  <a:schemeClr val="tx1"/>
                </a:solidFill>
              </a:rPr>
              <a:t>In aggregate Manhattan pickups generated 83.1% of all fee revenue, because 76.3% of its trips are charged against 3.7% of the Bronx's.</a:t>
            </a:r>
            <a:endParaRPr lang="en-US" sz="1150" dirty="0"/>
          </a:p>
        </p:txBody>
      </p:sp>
      <p:sp>
        <p:nvSpPr>
          <p:cNvPr id="7" name="card-0.6-4.1"/>
          <p:cNvSpPr/>
          <p:nvPr/>
        </p:nvSpPr>
        <p:spPr>
          <a:xfrm>
            <a:off x="548640" y="3749040"/>
            <a:ext cx="11064240" cy="1965960"/>
          </a:xfrm>
          <a:prstGeom prst="roundRect">
            <a:avLst>
              <a:gd name="adj" fmla="val 3721"/>
            </a:avLst>
          </a:prstGeom>
          <a:solidFill>
            <a:srgbClr val="FDF6E9"/>
          </a:solidFill>
          <a:ln w="12700">
            <a:solidFill>
              <a:srgbClr val="FDF6E9"/>
            </a:solidFill>
            <a:prstDash val="solid"/>
          </a:ln>
        </p:spPr>
      </p:sp>
      <p:sp>
        <p:nvSpPr>
          <p:cNvPr id="8" name="Text 5"/>
          <p:cNvSpPr txBox="1"/>
          <p:nvPr/>
        </p:nvSpPr>
        <p:spPr>
          <a:xfrm>
            <a:off x="868680" y="3931920"/>
            <a:ext cx="10424160" cy="274320"/>
          </a:xfrm>
          <a:prstGeom prst="rect">
            <a:avLst/>
          </a:prstGeom>
          <a:noFill/>
          <a:ln/>
        </p:spPr>
        <p:txBody>
          <a:bodyPr wrap="square" lIns="0" tIns="0" rIns="0" bIns="0" rtlCol="0" anchor="ctr"/>
          <a:lstStyle/>
          <a:p>
            <a:pPr indent="0" marL="0">
              <a:buNone/>
            </a:pPr>
            <a:r>
              <a:rPr lang="en-US" sz="1400" b="1" dirty="0">
                <a:solidFill>
                  <a:srgbClr val="9A6E18"/>
                </a:solidFill>
              </a:rPr>
              <a:t>Why this matters for policy</a:t>
            </a:r>
            <a:endParaRPr lang="en-US" sz="1400" dirty="0"/>
          </a:p>
        </p:txBody>
      </p:sp>
      <p:sp>
        <p:nvSpPr>
          <p:cNvPr id="9" name="Text 6"/>
          <p:cNvSpPr txBox="1"/>
          <p:nvPr/>
        </p:nvSpPr>
        <p:spPr>
          <a:xfrm>
            <a:off x="868680" y="4279392"/>
            <a:ext cx="10424160" cy="1325880"/>
          </a:xfrm>
          <a:prstGeom prst="rect">
            <a:avLst/>
          </a:prstGeom>
          <a:noFill/>
          <a:ln/>
        </p:spPr>
        <p:txBody>
          <a:bodyPr wrap="square" lIns="0" tIns="0" rIns="0" bIns="0" rtlCol="0" anchor="ctr"/>
          <a:lstStyle/>
          <a:p>
            <a:pPr indent="0" marL="0">
              <a:buNone/>
            </a:pPr>
            <a:r>
              <a:rPr lang="en-US" sz="1250" dirty="0">
                <a:solidFill>
                  <a:schemeClr val="tx1"/>
                </a:solidFill>
              </a:rPr>
              <a:t>Manhattan funds the scheme, but an outer-borough rider who does cross the cordon pays half again as much of their fare for the privilege. Part 1 showed those same outer-borough zones behave as transit substitution rather than discretionary travel — short, cheap, frequent trips where rail coverage is weakest. The flat structure therefore bears hardest on the riders least able to substitute away from it. A fee scaled to fare, or a rebate for trips originating in the identified zones, would raise comparable revenue with materially less regressivity — and this dataset makes that trade-off directly computable.</a:t>
            </a:r>
            <a:endParaRPr lang="en-US" sz="1250" dirty="0"/>
          </a:p>
        </p:txBody>
      </p:sp>
      <p:sp>
        <p:nvSpPr>
          <p:cNvPr id="11" name="Text 2"/>
          <p:cNvSpPr/>
          <p:nvPr>
            <p:ph idx="104" hasCustomPrompt="1"/>
          </p:nvPr>
        </p:nvSpPr>
        <p:spPr>
          <a:xfrm>
            <a:off x="10149840" y="6355080"/>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0241280" cy="566928"/>
          </a:xfrm>
          <a:prstGeom prst="rect">
            <a:avLst/>
          </a:prstGeom>
          <a:noFill/>
          <a:ln/>
        </p:spPr>
        <p:txBody>
          <a:bodyPr wrap="square" rtlCol="0" anchor="ctr"/>
          <a:lstStyle/>
          <a:p>
            <a:pPr algn="l" indent="0" marL="0">
              <a:buNone/>
            </a:pPr>
            <a:r>
              <a:rPr lang="en-US" sz="2500" b="1" dirty="0">
                <a:solidFill>
                  <a:srgbClr val="055BAA"/>
                </a:solidFill>
              </a:rPr>
              <a:t>Thread B: service quality is a function of supply density</a:t>
            </a:r>
            <a:endParaRPr lang="en-US" sz="2500" dirty="0"/>
          </a:p>
        </p:txBody>
      </p:sp>
      <p:pic>
        <p:nvPicPr>
          <p:cNvPr id="3" name="Image 0" descr="/home/claude/deck/img/f4_corr.png">    </p:cNvPr>
          <p:cNvPicPr>
            <a:picLocks noChangeAspect="1"/>
          </p:cNvPicPr>
          <p:nvPr/>
        </p:nvPicPr>
        <p:blipFill>
          <a:blip r:embed="rId1"/>
          <a:stretch>
            <a:fillRect/>
          </a:stretch>
        </p:blipFill>
        <p:spPr>
          <a:xfrm>
            <a:off x="548640" y="1234440"/>
            <a:ext cx="5486400" cy="2377440"/>
          </a:xfrm>
          <a:prstGeom prst="rect">
            <a:avLst/>
          </a:prstGeom>
        </p:spPr>
      </p:pic>
      <p:pic>
        <p:nvPicPr>
          <p:cNvPr id="4" name="Image 1" descr="/home/claude/deck/img/f7_deserts.png">    </p:cNvPr>
          <p:cNvPicPr>
            <a:picLocks noChangeAspect="1"/>
          </p:cNvPicPr>
          <p:nvPr/>
        </p:nvPicPr>
        <p:blipFill>
          <a:blip r:embed="rId2"/>
          <a:stretch>
            <a:fillRect/>
          </a:stretch>
        </p:blipFill>
        <p:spPr>
          <a:xfrm>
            <a:off x="6309360" y="1234440"/>
            <a:ext cx="5303520" cy="2697480"/>
          </a:xfrm>
          <a:prstGeom prst="rect">
            <a:avLst/>
          </a:prstGeom>
        </p:spPr>
      </p:pic>
      <p:sp>
        <p:nvSpPr>
          <p:cNvPr id="5" name="card-0.6-4.05"/>
          <p:cNvSpPr/>
          <p:nvPr/>
        </p:nvSpPr>
        <p:spPr>
          <a:xfrm>
            <a:off x="548640" y="3703320"/>
            <a:ext cx="5486400" cy="2011680"/>
          </a:xfrm>
          <a:prstGeom prst="roundRect">
            <a:avLst>
              <a:gd name="adj" fmla="val 3636"/>
            </a:avLst>
          </a:prstGeom>
          <a:solidFill>
            <a:srgbClr val="E8F0F8"/>
          </a:solidFill>
          <a:ln w="12700">
            <a:solidFill>
              <a:srgbClr val="E8F0F8"/>
            </a:solidFill>
            <a:prstDash val="solid"/>
          </a:ln>
        </p:spPr>
      </p:sp>
      <p:sp>
        <p:nvSpPr>
          <p:cNvPr id="6" name="Text 2"/>
          <p:cNvSpPr txBox="1"/>
          <p:nvPr/>
        </p:nvSpPr>
        <p:spPr>
          <a:xfrm>
            <a:off x="822960" y="3858768"/>
            <a:ext cx="4937760" cy="274320"/>
          </a:xfrm>
          <a:prstGeom prst="rect">
            <a:avLst/>
          </a:prstGeom>
          <a:noFill/>
          <a:ln/>
        </p:spPr>
        <p:txBody>
          <a:bodyPr wrap="square" lIns="0" tIns="0" rIns="0" bIns="0" rtlCol="0" anchor="ctr"/>
          <a:lstStyle/>
          <a:p>
            <a:pPr indent="0" marL="0">
              <a:buNone/>
            </a:pPr>
            <a:r>
              <a:rPr lang="en-US" sz="1300" b="1" dirty="0">
                <a:solidFill>
                  <a:srgbClr val="055BAA"/>
                </a:solidFill>
              </a:rPr>
              <a:t>Negative at every one of the 24 hours</a:t>
            </a:r>
            <a:endParaRPr lang="en-US" sz="1300" dirty="0"/>
          </a:p>
        </p:txBody>
      </p:sp>
      <p:sp>
        <p:nvSpPr>
          <p:cNvPr id="7" name="Text 3"/>
          <p:cNvSpPr txBox="1"/>
          <p:nvPr/>
        </p:nvSpPr>
        <p:spPr>
          <a:xfrm>
            <a:off x="822960" y="4187952"/>
            <a:ext cx="4937760" cy="1371600"/>
          </a:xfrm>
          <a:prstGeom prst="rect">
            <a:avLst/>
          </a:prstGeom>
          <a:noFill/>
          <a:ln/>
        </p:spPr>
        <p:txBody>
          <a:bodyPr wrap="square" lIns="0" tIns="0" rIns="0" bIns="0" rtlCol="0" anchor="ctr"/>
          <a:lstStyle/>
          <a:p>
            <a:pPr indent="0" marL="0">
              <a:buNone/>
            </a:pPr>
            <a:r>
              <a:rPr lang="en-US" sz="1200" dirty="0">
                <a:solidFill>
                  <a:schemeClr val="tx1"/>
                </a:solidFill>
              </a:rPr>
              <a:t>From −0.24 at 08:00 to −0.617 at 20:00, overall r = −0.472. Busier zones are served faster, at all times of day. If road congestion were the binding constraint the sign would invert at peak hours — it never does. This confirms Part 1's inference directly.</a:t>
            </a:r>
            <a:endParaRPr lang="en-US" sz="1200" dirty="0"/>
          </a:p>
        </p:txBody>
      </p:sp>
      <p:sp>
        <p:nvSpPr>
          <p:cNvPr id="8" name="card-6.9-4.4"/>
          <p:cNvSpPr/>
          <p:nvPr/>
        </p:nvSpPr>
        <p:spPr>
          <a:xfrm>
            <a:off x="6309360" y="4023360"/>
            <a:ext cx="5303520" cy="1691640"/>
          </a:xfrm>
          <a:prstGeom prst="roundRect">
            <a:avLst>
              <a:gd name="adj" fmla="val 4324"/>
            </a:avLst>
          </a:prstGeom>
          <a:solidFill>
            <a:srgbClr val="FBEEED"/>
          </a:solidFill>
          <a:ln w="12700">
            <a:solidFill>
              <a:srgbClr val="FBEEED"/>
            </a:solidFill>
            <a:prstDash val="solid"/>
          </a:ln>
        </p:spPr>
      </p:sp>
      <p:sp>
        <p:nvSpPr>
          <p:cNvPr id="9" name="Text 5"/>
          <p:cNvSpPr txBox="1"/>
          <p:nvPr/>
        </p:nvSpPr>
        <p:spPr>
          <a:xfrm>
            <a:off x="6583680" y="4178808"/>
            <a:ext cx="4846320" cy="274320"/>
          </a:xfrm>
          <a:prstGeom prst="rect">
            <a:avLst/>
          </a:prstGeom>
          <a:noFill/>
          <a:ln/>
        </p:spPr>
        <p:txBody>
          <a:bodyPr wrap="square" lIns="0" tIns="0" rIns="0" bIns="0" rtlCol="0" anchor="ctr"/>
          <a:lstStyle/>
          <a:p>
            <a:pPr indent="0" marL="0">
              <a:buNone/>
            </a:pPr>
            <a:r>
              <a:rPr lang="en-US" sz="1300" b="1" dirty="0">
                <a:solidFill>
                  <a:srgbClr val="C0504D"/>
                </a:solidFill>
              </a:rPr>
              <a:t>74 persistent service deserts</a:t>
            </a:r>
            <a:endParaRPr lang="en-US" sz="1300" dirty="0"/>
          </a:p>
        </p:txBody>
      </p:sp>
      <p:sp>
        <p:nvSpPr>
          <p:cNvPr id="10" name="Text 6"/>
          <p:cNvSpPr txBox="1"/>
          <p:nvPr/>
        </p:nvSpPr>
        <p:spPr>
          <a:xfrm>
            <a:off x="6583680" y="4498848"/>
            <a:ext cx="4846320" cy="1097280"/>
          </a:xfrm>
          <a:prstGeom prst="rect">
            <a:avLst/>
          </a:prstGeom>
          <a:noFill/>
          <a:ln/>
        </p:spPr>
        <p:txBody>
          <a:bodyPr wrap="square" lIns="0" tIns="0" rIns="0" bIns="0" rtlCol="0" anchor="ctr"/>
          <a:lstStyle/>
          <a:p>
            <a:pPr indent="0" marL="0">
              <a:buNone/>
            </a:pPr>
            <a:r>
              <a:rPr lang="en-US" sz="1200" dirty="0">
                <a:solidFill>
                  <a:schemeClr val="tx1"/>
                </a:solidFill>
              </a:rPr>
              <a:t>Ranked by severity above; four zones are above threshold in all 24 hours. Overwhelmingly peripheral — 23 in Queens, 18 in Staten Island, 18 in Brooklyn. Hammels/Arverne is the most persistent of these, at 61% above the city norm every hour.</a:t>
            </a:r>
            <a:endParaRPr lang="en-US" sz="1200" dirty="0"/>
          </a:p>
        </p:txBody>
      </p:sp>
      <p:sp>
        <p:nvSpPr>
          <p:cNvPr id="12" name="Text 2"/>
          <p:cNvSpPr/>
          <p:nvPr>
            <p:ph idx="104" hasCustomPrompt="1"/>
          </p:nvPr>
        </p:nvSpPr>
        <p:spPr>
          <a:xfrm>
            <a:off x="10149840" y="6355080"/>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0241280" cy="566928"/>
          </a:xfrm>
          <a:prstGeom prst="rect">
            <a:avLst/>
          </a:prstGeom>
          <a:noFill/>
          <a:ln/>
        </p:spPr>
        <p:txBody>
          <a:bodyPr wrap="square" rtlCol="0" anchor="ctr"/>
          <a:lstStyle/>
          <a:p>
            <a:pPr algn="l" indent="0" marL="0">
              <a:buNone/>
            </a:pPr>
            <a:r>
              <a:rPr lang="en-US" sz="2500" b="1" dirty="0">
                <a:solidFill>
                  <a:srgbClr val="055BAA"/>
                </a:solidFill>
              </a:rPr>
              <a:t>Demand patterns and trip economics</a:t>
            </a:r>
            <a:endParaRPr lang="en-US" sz="2500" dirty="0"/>
          </a:p>
        </p:txBody>
      </p:sp>
      <p:pic>
        <p:nvPicPr>
          <p:cNvPr id="3" name="Image 0" descr="/home/claude/deck/img/sav_fig5_demand.png">    </p:cNvPr>
          <p:cNvPicPr>
            <a:picLocks noChangeAspect="1"/>
          </p:cNvPicPr>
          <p:nvPr/>
        </p:nvPicPr>
        <p:blipFill>
          <a:blip r:embed="rId1"/>
          <a:stretch>
            <a:fillRect/>
          </a:stretch>
        </p:blipFill>
        <p:spPr>
          <a:xfrm>
            <a:off x="502920" y="1234440"/>
            <a:ext cx="6263640" cy="2834640"/>
          </a:xfrm>
          <a:prstGeom prst="rect">
            <a:avLst/>
          </a:prstGeom>
        </p:spPr>
      </p:pic>
      <p:pic>
        <p:nvPicPr>
          <p:cNvPr id="4" name="Image 1" descr="/home/claude/deck/img/sav_fig6_economics.png">    </p:cNvPr>
          <p:cNvPicPr>
            <a:picLocks noChangeAspect="1"/>
          </p:cNvPicPr>
          <p:nvPr/>
        </p:nvPicPr>
        <p:blipFill>
          <a:blip r:embed="rId2"/>
          <a:stretch>
            <a:fillRect/>
          </a:stretch>
        </p:blipFill>
        <p:spPr>
          <a:xfrm>
            <a:off x="7269480" y="1234440"/>
            <a:ext cx="4343400" cy="2880360"/>
          </a:xfrm>
          <a:prstGeom prst="rect">
            <a:avLst/>
          </a:prstGeom>
        </p:spPr>
      </p:pic>
      <p:sp>
        <p:nvSpPr>
          <p:cNvPr id="5" name="card-0.6-4.75"/>
          <p:cNvSpPr/>
          <p:nvPr/>
        </p:nvSpPr>
        <p:spPr>
          <a:xfrm>
            <a:off x="548640" y="4343400"/>
            <a:ext cx="5486400" cy="1371600"/>
          </a:xfrm>
          <a:prstGeom prst="roundRect">
            <a:avLst>
              <a:gd name="adj" fmla="val 5333"/>
            </a:avLst>
          </a:prstGeom>
          <a:solidFill>
            <a:srgbClr val="E8F0F8"/>
          </a:solidFill>
          <a:ln w="12700">
            <a:solidFill>
              <a:srgbClr val="E8F0F8"/>
            </a:solidFill>
            <a:prstDash val="solid"/>
          </a:ln>
        </p:spPr>
      </p:sp>
      <p:sp>
        <p:nvSpPr>
          <p:cNvPr id="6" name="Text 2"/>
          <p:cNvSpPr txBox="1"/>
          <p:nvPr/>
        </p:nvSpPr>
        <p:spPr>
          <a:xfrm>
            <a:off x="822960" y="4498848"/>
            <a:ext cx="4937760" cy="274320"/>
          </a:xfrm>
          <a:prstGeom prst="rect">
            <a:avLst/>
          </a:prstGeom>
          <a:noFill/>
          <a:ln/>
        </p:spPr>
        <p:txBody>
          <a:bodyPr wrap="square" lIns="0" tIns="0" rIns="0" bIns="0" rtlCol="0" anchor="ctr"/>
          <a:lstStyle/>
          <a:p>
            <a:pPr indent="0" marL="0">
              <a:buNone/>
            </a:pPr>
            <a:r>
              <a:rPr lang="en-US" sz="1300" b="1" dirty="0">
                <a:solidFill>
                  <a:srgbClr val="055BAA"/>
                </a:solidFill>
              </a:rPr>
              <a:t>Realised demand</a:t>
            </a:r>
            <a:endParaRPr lang="en-US" sz="1300" dirty="0"/>
          </a:p>
        </p:txBody>
      </p:sp>
      <p:sp>
        <p:nvSpPr>
          <p:cNvPr id="7" name="Text 3"/>
          <p:cNvSpPr txBox="1"/>
          <p:nvPr/>
        </p:nvSpPr>
        <p:spPr>
          <a:xfrm>
            <a:off x="822960" y="4828032"/>
            <a:ext cx="4937760" cy="777240"/>
          </a:xfrm>
          <a:prstGeom prst="rect">
            <a:avLst/>
          </a:prstGeom>
          <a:noFill/>
          <a:ln/>
        </p:spPr>
        <p:txBody>
          <a:bodyPr wrap="square" lIns="0" tIns="0" rIns="0" bIns="0" rtlCol="0" anchor="ctr"/>
          <a:lstStyle/>
          <a:p>
            <a:pPr indent="0" marL="0">
              <a:buNone/>
            </a:pPr>
            <a:r>
              <a:rPr lang="en-US" sz="1200" dirty="0">
                <a:solidFill>
                  <a:schemeClr val="tx1"/>
                </a:solidFill>
              </a:rPr>
              <a:t>8,760 date-hours split into terciles. Volume runs from ~9,699 trips/hour at 03:00 to ~39,127 at 18:00. Saturday highest, Monday lowest.</a:t>
            </a:r>
            <a:endParaRPr lang="en-US" sz="1200" dirty="0"/>
          </a:p>
        </p:txBody>
      </p:sp>
      <p:sp>
        <p:nvSpPr>
          <p:cNvPr id="8" name="card-6.9-4.5"/>
          <p:cNvSpPr/>
          <p:nvPr/>
        </p:nvSpPr>
        <p:spPr>
          <a:xfrm>
            <a:off x="6309360" y="4114800"/>
            <a:ext cx="5303520" cy="1600200"/>
          </a:xfrm>
          <a:prstGeom prst="roundRect">
            <a:avLst>
              <a:gd name="adj" fmla="val 4571"/>
            </a:avLst>
          </a:prstGeom>
          <a:solidFill>
            <a:srgbClr val="EEF4F4"/>
          </a:solidFill>
          <a:ln w="12700">
            <a:solidFill>
              <a:srgbClr val="EEF4F4"/>
            </a:solidFill>
            <a:prstDash val="solid"/>
          </a:ln>
        </p:spPr>
      </p:sp>
      <p:sp>
        <p:nvSpPr>
          <p:cNvPr id="9" name="Text 5"/>
          <p:cNvSpPr txBox="1"/>
          <p:nvPr/>
        </p:nvSpPr>
        <p:spPr>
          <a:xfrm>
            <a:off x="6583680" y="4270248"/>
            <a:ext cx="4846320" cy="274320"/>
          </a:xfrm>
          <a:prstGeom prst="rect">
            <a:avLst/>
          </a:prstGeom>
          <a:noFill/>
          <a:ln/>
        </p:spPr>
        <p:txBody>
          <a:bodyPr wrap="square" lIns="0" tIns="0" rIns="0" bIns="0" rtlCol="0" anchor="ctr"/>
          <a:lstStyle/>
          <a:p>
            <a:pPr indent="0" marL="0">
              <a:buNone/>
            </a:pPr>
            <a:r>
              <a:rPr lang="en-US" sz="1300" b="1" dirty="0">
                <a:solidFill>
                  <a:srgbClr val="2E8B8B"/>
                </a:solidFill>
              </a:rPr>
              <a:t>Per-mile economics rise with demand</a:t>
            </a:r>
            <a:endParaRPr lang="en-US" sz="1300" dirty="0"/>
          </a:p>
        </p:txBody>
      </p:sp>
      <p:sp>
        <p:nvSpPr>
          <p:cNvPr id="10" name="Text 6"/>
          <p:cNvSpPr txBox="1"/>
          <p:nvPr/>
        </p:nvSpPr>
        <p:spPr>
          <a:xfrm>
            <a:off x="6583680" y="4599432"/>
            <a:ext cx="4846320" cy="1005840"/>
          </a:xfrm>
          <a:prstGeom prst="rect">
            <a:avLst/>
          </a:prstGeom>
          <a:noFill/>
          <a:ln/>
        </p:spPr>
        <p:txBody>
          <a:bodyPr wrap="square" lIns="0" tIns="0" rIns="0" bIns="0" rtlCol="0" anchor="ctr"/>
          <a:lstStyle/>
          <a:p>
            <a:pPr indent="0" marL="0">
              <a:buNone/>
            </a:pPr>
            <a:r>
              <a:rPr lang="en-US" sz="1150" dirty="0">
                <a:solidFill>
                  <a:schemeClr val="tx1"/>
                </a:solidFill>
              </a:rPr>
              <a:t>Total fares stay near $27 and driver pay near $21 across all three levels — but fare per mile climbs $6.17 → $8.18 and driver pay per mile $4.45 → $5.94. High demand means shorter, slower trips. Not profitability: the data has no operating costs.</a:t>
            </a:r>
            <a:endParaRPr lang="en-US" sz="1150" dirty="0"/>
          </a:p>
        </p:txBody>
      </p:sp>
      <p:sp>
        <p:nvSpPr>
          <p:cNvPr id="12" name="Text 2"/>
          <p:cNvSpPr/>
          <p:nvPr>
            <p:ph idx="104" hasCustomPrompt="1"/>
          </p:nvPr>
        </p:nvSpPr>
        <p:spPr>
          <a:xfrm>
            <a:off x="10149840" y="6355080"/>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02920" y="274320"/>
            <a:ext cx="10241280" cy="566928"/>
          </a:xfrm>
          <a:prstGeom prst="rect">
            <a:avLst/>
          </a:prstGeom>
          <a:noFill/>
          <a:ln/>
        </p:spPr>
        <p:txBody>
          <a:bodyPr wrap="square" rtlCol="0" anchor="ctr"/>
          <a:lstStyle/>
          <a:p>
            <a:pPr algn="l" indent="0" marL="0">
              <a:buNone/>
            </a:pPr>
            <a:r>
              <a:rPr lang="en-US" sz="2500" b="1" dirty="0">
                <a:solidFill>
                  <a:srgbClr val="055BAA"/>
                </a:solidFill>
              </a:rPr>
              <a:t>Where the threads meet</a:t>
            </a:r>
            <a:endParaRPr lang="en-US" sz="2500" dirty="0"/>
          </a:p>
        </p:txBody>
      </p:sp>
      <p:sp>
        <p:nvSpPr>
          <p:cNvPr id="3" name="card-0.6-1.35"/>
          <p:cNvSpPr/>
          <p:nvPr/>
        </p:nvSpPr>
        <p:spPr>
          <a:xfrm>
            <a:off x="548640" y="1234440"/>
            <a:ext cx="5440680" cy="1828800"/>
          </a:xfrm>
          <a:prstGeom prst="roundRect">
            <a:avLst>
              <a:gd name="adj" fmla="val 4000"/>
            </a:avLst>
          </a:prstGeom>
          <a:solidFill>
            <a:srgbClr val="EEF4F4"/>
          </a:solidFill>
          <a:ln w="12700">
            <a:solidFill>
              <a:srgbClr val="EEF4F4"/>
            </a:solidFill>
            <a:prstDash val="solid"/>
          </a:ln>
        </p:spPr>
      </p:sp>
      <p:sp>
        <p:nvSpPr>
          <p:cNvPr id="4" name="Text 2"/>
          <p:cNvSpPr txBox="1"/>
          <p:nvPr/>
        </p:nvSpPr>
        <p:spPr>
          <a:xfrm>
            <a:off x="822960" y="1371600"/>
            <a:ext cx="4937760" cy="274320"/>
          </a:xfrm>
          <a:prstGeom prst="rect">
            <a:avLst/>
          </a:prstGeom>
          <a:noFill/>
          <a:ln/>
        </p:spPr>
        <p:txBody>
          <a:bodyPr wrap="square" lIns="0" tIns="0" rIns="0" bIns="0" rtlCol="0" anchor="ctr"/>
          <a:lstStyle/>
          <a:p>
            <a:pPr indent="0" marL="0">
              <a:buNone/>
            </a:pPr>
            <a:r>
              <a:rPr lang="en-US" sz="1400" b="1" dirty="0">
                <a:solidFill>
                  <a:srgbClr val="2E8B8B"/>
                </a:solidFill>
              </a:rPr>
              <a:t>Inside the cordon</a:t>
            </a:r>
            <a:endParaRPr lang="en-US" sz="1400" dirty="0"/>
          </a:p>
        </p:txBody>
      </p:sp>
      <p:sp>
        <p:nvSpPr>
          <p:cNvPr id="5" name="Text 3"/>
          <p:cNvSpPr txBox="1"/>
          <p:nvPr/>
        </p:nvSpPr>
        <p:spPr>
          <a:xfrm>
            <a:off x="822960" y="1691640"/>
            <a:ext cx="4937760" cy="502920"/>
          </a:xfrm>
          <a:prstGeom prst="rect">
            <a:avLst/>
          </a:prstGeom>
          <a:noFill/>
          <a:ln/>
        </p:spPr>
        <p:txBody>
          <a:bodyPr wrap="square" lIns="0" tIns="0" rIns="0" bIns="0" rtlCol="0" anchor="ctr"/>
          <a:lstStyle/>
          <a:p>
            <a:pPr indent="0" marL="0">
              <a:buNone/>
            </a:pPr>
            <a:r>
              <a:rPr lang="en-US" sz="2600" b="1" dirty="0">
                <a:solidFill>
                  <a:srgbClr val="2E8B8B"/>
                </a:solidFill>
              </a:rPr>
              <a:t>272.0 s  →  269.2 s</a:t>
            </a:r>
            <a:endParaRPr lang="en-US" sz="2600" dirty="0"/>
          </a:p>
        </p:txBody>
      </p:sp>
      <p:sp>
        <p:nvSpPr>
          <p:cNvPr id="6" name="Text 4"/>
          <p:cNvSpPr txBox="1"/>
          <p:nvPr/>
        </p:nvSpPr>
        <p:spPr>
          <a:xfrm>
            <a:off x="822960" y="2240280"/>
            <a:ext cx="4937760" cy="548640"/>
          </a:xfrm>
          <a:prstGeom prst="rect">
            <a:avLst/>
          </a:prstGeom>
          <a:noFill/>
          <a:ln/>
        </p:spPr>
        <p:txBody>
          <a:bodyPr wrap="square" lIns="0" tIns="0" rIns="0" bIns="0" rtlCol="0" anchor="ctr"/>
          <a:lstStyle/>
          <a:p>
            <a:pPr indent="0" marL="0">
              <a:buNone/>
            </a:pPr>
            <a:r>
              <a:rPr lang="en-US" sz="1200" dirty="0">
                <a:solidFill>
                  <a:schemeClr val="tx1"/>
                </a:solidFill>
              </a:rPr>
              <a:t>mean wait improved 1.0% between 2024 and 2025</a:t>
            </a:r>
            <a:endParaRPr lang="en-US" sz="1200" dirty="0"/>
          </a:p>
        </p:txBody>
      </p:sp>
      <p:sp>
        <p:nvSpPr>
          <p:cNvPr id="7" name="card-6.75-1.35"/>
          <p:cNvSpPr/>
          <p:nvPr/>
        </p:nvSpPr>
        <p:spPr>
          <a:xfrm>
            <a:off x="6172200" y="1234440"/>
            <a:ext cx="5440680" cy="1828800"/>
          </a:xfrm>
          <a:prstGeom prst="roundRect">
            <a:avLst>
              <a:gd name="adj" fmla="val 4000"/>
            </a:avLst>
          </a:prstGeom>
          <a:solidFill>
            <a:srgbClr val="FBEEED"/>
          </a:solidFill>
          <a:ln w="12700">
            <a:solidFill>
              <a:srgbClr val="FBEEED"/>
            </a:solidFill>
            <a:prstDash val="solid"/>
          </a:ln>
        </p:spPr>
      </p:sp>
      <p:sp>
        <p:nvSpPr>
          <p:cNvPr id="8" name="Text 6"/>
          <p:cNvSpPr txBox="1"/>
          <p:nvPr/>
        </p:nvSpPr>
        <p:spPr>
          <a:xfrm>
            <a:off x="6446520" y="1371600"/>
            <a:ext cx="4937760" cy="274320"/>
          </a:xfrm>
          <a:prstGeom prst="rect">
            <a:avLst/>
          </a:prstGeom>
          <a:noFill/>
          <a:ln/>
        </p:spPr>
        <p:txBody>
          <a:bodyPr wrap="square" lIns="0" tIns="0" rIns="0" bIns="0" rtlCol="0" anchor="ctr"/>
          <a:lstStyle/>
          <a:p>
            <a:pPr indent="0" marL="0">
              <a:buNone/>
            </a:pPr>
            <a:r>
              <a:rPr lang="en-US" sz="1400" b="1" dirty="0">
                <a:solidFill>
                  <a:srgbClr val="C0504D"/>
                </a:solidFill>
              </a:rPr>
              <a:t>Everywhere else</a:t>
            </a:r>
            <a:endParaRPr lang="en-US" sz="1400" dirty="0"/>
          </a:p>
        </p:txBody>
      </p:sp>
      <p:sp>
        <p:nvSpPr>
          <p:cNvPr id="9" name="Text 7"/>
          <p:cNvSpPr txBox="1"/>
          <p:nvPr/>
        </p:nvSpPr>
        <p:spPr>
          <a:xfrm>
            <a:off x="6446520" y="1691640"/>
            <a:ext cx="4937760" cy="502920"/>
          </a:xfrm>
          <a:prstGeom prst="rect">
            <a:avLst/>
          </a:prstGeom>
          <a:noFill/>
          <a:ln/>
        </p:spPr>
        <p:txBody>
          <a:bodyPr wrap="square" lIns="0" tIns="0" rIns="0" bIns="0" rtlCol="0" anchor="ctr"/>
          <a:lstStyle/>
          <a:p>
            <a:pPr indent="0" marL="0">
              <a:buNone/>
            </a:pPr>
            <a:r>
              <a:rPr lang="en-US" sz="2600" b="1" dirty="0">
                <a:solidFill>
                  <a:srgbClr val="C0504D"/>
                </a:solidFill>
              </a:rPr>
              <a:t>281.0 s  →  294.1 s</a:t>
            </a:r>
            <a:endParaRPr lang="en-US" sz="2600" dirty="0"/>
          </a:p>
        </p:txBody>
      </p:sp>
      <p:sp>
        <p:nvSpPr>
          <p:cNvPr id="10" name="Text 8"/>
          <p:cNvSpPr txBox="1"/>
          <p:nvPr/>
        </p:nvSpPr>
        <p:spPr>
          <a:xfrm>
            <a:off x="6446520" y="2240280"/>
            <a:ext cx="4937760" cy="548640"/>
          </a:xfrm>
          <a:prstGeom prst="rect">
            <a:avLst/>
          </a:prstGeom>
          <a:noFill/>
          <a:ln/>
        </p:spPr>
        <p:txBody>
          <a:bodyPr wrap="square" lIns="0" tIns="0" rIns="0" bIns="0" rtlCol="0" anchor="ctr"/>
          <a:lstStyle/>
          <a:p>
            <a:pPr indent="0" marL="0">
              <a:buNone/>
            </a:pPr>
            <a:r>
              <a:rPr lang="en-US" sz="1200" dirty="0">
                <a:solidFill>
                  <a:schemeClr val="tx1"/>
                </a:solidFill>
              </a:rPr>
              <a:t>mean wait deteriorated 4.7% over the same period</a:t>
            </a:r>
            <a:endParaRPr lang="en-US" sz="1200" dirty="0"/>
          </a:p>
        </p:txBody>
      </p:sp>
      <p:sp>
        <p:nvSpPr>
          <p:cNvPr id="11" name="card-0.6-3.5"/>
          <p:cNvSpPr/>
          <p:nvPr/>
        </p:nvSpPr>
        <p:spPr>
          <a:xfrm>
            <a:off x="548640" y="3200400"/>
            <a:ext cx="11064240" cy="1371600"/>
          </a:xfrm>
          <a:prstGeom prst="roundRect">
            <a:avLst>
              <a:gd name="adj" fmla="val 5333"/>
            </a:avLst>
          </a:prstGeom>
          <a:solidFill>
            <a:srgbClr val="1A1A1A"/>
          </a:solidFill>
          <a:ln w="12700">
            <a:solidFill>
              <a:srgbClr val="1A1A1A"/>
            </a:solidFill>
            <a:prstDash val="solid"/>
          </a:ln>
        </p:spPr>
      </p:sp>
      <p:sp>
        <p:nvSpPr>
          <p:cNvPr id="12" name="Text 10"/>
          <p:cNvSpPr txBox="1"/>
          <p:nvPr/>
        </p:nvSpPr>
        <p:spPr>
          <a:xfrm>
            <a:off x="914400" y="3401568"/>
            <a:ext cx="10332720" cy="1005840"/>
          </a:xfrm>
          <a:prstGeom prst="rect">
            <a:avLst/>
          </a:prstGeom>
          <a:noFill/>
          <a:ln/>
        </p:spPr>
        <p:txBody>
          <a:bodyPr wrap="square" lIns="0" tIns="0" rIns="0" bIns="0" rtlCol="0" anchor="ctr"/>
          <a:lstStyle/>
          <a:p>
            <a:pPr indent="0" marL="0">
              <a:buNone/>
            </a:pPr>
            <a:r>
              <a:rPr lang="en-US" sz="1400" dirty="0">
                <a:solidFill>
                  <a:srgbClr val="FFFFFF"/>
                </a:solidFill>
              </a:rPr>
              <a:t>Congestion pricing did not remove trips from the cordon. It appears to have redistributed driver supply — and because service quality tracks supply density at every hour of the day, a marginal gain inside the zone came with a loss four times larger outside it, borne by the same peripheral zones already identified as service deserts.</a:t>
            </a:r>
            <a:endParaRPr lang="en-US" sz="1400" dirty="0"/>
          </a:p>
        </p:txBody>
      </p:sp>
      <p:sp>
        <p:nvSpPr>
          <p:cNvPr id="13" name="Text 11"/>
          <p:cNvSpPr txBox="1"/>
          <p:nvPr/>
        </p:nvSpPr>
        <p:spPr>
          <a:xfrm>
            <a:off x="548640" y="4754880"/>
            <a:ext cx="11064240" cy="274320"/>
          </a:xfrm>
          <a:prstGeom prst="rect">
            <a:avLst/>
          </a:prstGeom>
          <a:noFill/>
          <a:ln/>
        </p:spPr>
        <p:txBody>
          <a:bodyPr wrap="square" lIns="0" tIns="0" rIns="0" bIns="0" rtlCol="0" anchor="ctr"/>
          <a:lstStyle/>
          <a:p>
            <a:pPr indent="0" marL="0">
              <a:buNone/>
            </a:pPr>
            <a:r>
              <a:rPr lang="en-US" sz="1300" b="1" dirty="0">
                <a:solidFill>
                  <a:srgbClr val="055BAA"/>
                </a:solidFill>
              </a:rPr>
              <a:t>Limitations we state plainly</a:t>
            </a:r>
            <a:endParaRPr lang="en-US" sz="1300" dirty="0"/>
          </a:p>
        </p:txBody>
      </p:sp>
      <p:sp>
        <p:nvSpPr>
          <p:cNvPr id="14" name="Text 12"/>
          <p:cNvSpPr txBox="1"/>
          <p:nvPr/>
        </p:nvSpPr>
        <p:spPr>
          <a:xfrm>
            <a:off x="548640" y="5074920"/>
            <a:ext cx="11064240" cy="1097280"/>
          </a:xfrm>
          <a:prstGeom prst="rect">
            <a:avLst/>
          </a:prstGeom>
          <a:noFill/>
          <a:ln/>
        </p:spPr>
        <p:txBody>
          <a:bodyPr wrap="square" rtlCol="0" anchor="ctr"/>
          <a:lstStyle/>
          <a:p>
            <a:pPr marL="342900" indent="-342900">
              <a:spcAft>
                <a:spcPts val="800"/>
              </a:spcAft>
              <a:buSzPct val="100000"/>
              <a:buChar char="•"/>
            </a:pPr>
            <a:r>
              <a:rPr lang="en-US" sz="1150" dirty="0">
                <a:solidFill>
                  <a:schemeClr val="tx1"/>
                </a:solidFill>
              </a:rPr>
              <a:t>Identification — 2024 and 2025 differ in many ways besides the fee; we report association with a pre-trend adjustment, not causation</a:t>
            </a:r>
            <a:endParaRPr lang="en-US" sz="1150" dirty="0"/>
          </a:p>
          <a:p>
            <a:pPr marL="342900" indent="-342900">
              <a:spcAft>
                <a:spcPts val="800"/>
              </a:spcAft>
              <a:buSzPct val="100000"/>
              <a:buChar char="•"/>
            </a:pPr>
            <a:r>
              <a:rPr lang="en-US" sz="1150" dirty="0">
                <a:solidFill>
                  <a:schemeClr val="tx1"/>
                </a:solidFill>
              </a:rPr>
              <a:t>Survivorship — only matched, completed trips are recorded, so a service desert cannot be distinguished from suppressed demand</a:t>
            </a:r>
            <a:endParaRPr lang="en-US" sz="1150" dirty="0"/>
          </a:p>
          <a:p>
            <a:pPr marL="342900" indent="-342900">
              <a:spcAft>
                <a:spcPts val="800"/>
              </a:spcAft>
              <a:buSzPct val="100000"/>
              <a:buChar char="•"/>
            </a:pPr>
            <a:r>
              <a:rPr lang="en-US" sz="1150" dirty="0">
                <a:solidFill>
                  <a:schemeClr val="tx1"/>
                </a:solidFill>
              </a:rPr>
              <a:t>No entity identifiers — without driver or vehicle keys, the supply redistribution we infer cannot be confirmed directly</a:t>
            </a:r>
            <a:endParaRPr lang="en-US" sz="1150" dirty="0"/>
          </a:p>
        </p:txBody>
      </p:sp>
      <p:sp>
        <p:nvSpPr>
          <p:cNvPr id="16" name="Text 2"/>
          <p:cNvSpPr/>
          <p:nvPr>
            <p:ph idx="104" hasCustomPrompt="1"/>
          </p:nvPr>
        </p:nvSpPr>
        <p:spPr>
          <a:xfrm>
            <a:off x="10149840" y="6355080"/>
            <a:ext cx="457200" cy="274320"/>
          </a:xfrm>
          <a:prstGeom prst="rect">
            <a:avLst/>
          </a:prstGeom>
          <a:noFill/>
          <a:ln/>
        </p:spPr>
        <p:txBody>
          <a:bodyPr wrap="square" rtlCol="0"/>
          <a:lstStyle/>
          <a:p>
            <a:pPr algn="r" indent="0" marL="0">
              <a:buNone/>
            </a:pP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777240" y="2240280"/>
            <a:ext cx="9235440" cy="1737360"/>
          </a:xfrm>
          <a:prstGeom prst="rect">
            <a:avLst/>
          </a:prstGeom>
          <a:noFill/>
          <a:ln/>
        </p:spPr>
        <p:txBody>
          <a:bodyPr wrap="square" rtlCol="0" anchor="b"/>
          <a:lstStyle/>
          <a:p>
            <a:pPr algn="l" indent="0" marL="0">
              <a:buNone/>
            </a:pPr>
            <a:r>
              <a:rPr lang="en-US" sz="3800" b="1" dirty="0">
                <a:solidFill>
                  <a:schemeClr val="bg1"/>
                </a:solidFill>
              </a:rPr>
              <a:t>What the data supports</a:t>
            </a:r>
            <a:endParaRPr lang="en-US" sz="3800" dirty="0"/>
          </a:p>
        </p:txBody>
      </p:sp>
      <p:sp>
        <p:nvSpPr>
          <p:cNvPr id="3" name="Text 0"/>
          <p:cNvSpPr/>
          <p:nvPr>
            <p:ph idx="102" type="body" hasCustomPrompt="1"/>
          </p:nvPr>
        </p:nvSpPr>
        <p:spPr>
          <a:xfrm>
            <a:off x="822960" y="4114800"/>
            <a:ext cx="10424160" cy="1463040"/>
          </a:xfrm>
          <a:prstGeom prst="rect">
            <a:avLst/>
          </a:prstGeom>
          <a:noFill/>
          <a:ln/>
        </p:spPr>
        <p:txBody>
          <a:bodyPr wrap="square" rtlCol="0" anchor="t"/>
          <a:lstStyle/>
          <a:p>
            <a:pPr indent="0" marL="0">
              <a:buNone/>
            </a:pPr>
            <a:r>
              <a:rPr lang="en-US" sz="1500" dirty="0">
                <a:solidFill>
                  <a:srgbClr val="D3E4F4"/>
                </a:solidFill>
              </a:rPr>
              <a:t>The fee raised $117.1M and was passed to riders, with no volume effect beyond the pre-existing trend.
</a:t>
            </a:r>
            <a:pPr indent="0" marL="0">
              <a:buNone/>
            </a:pPr>
            <a:r>
              <a:rPr lang="en-US" sz="1500" dirty="0">
                <a:solidFill>
                  <a:srgbClr val="D3E4F4"/>
                </a:solidFill>
              </a:rPr>
              <a:t>Service quality is governed by driver supply density, not road congestion — at every hour.
</a:t>
            </a:r>
            <a:pPr indent="0" marL="0">
              <a:buNone/>
            </a:pPr>
            <a:r>
              <a:rPr lang="en-US" sz="1500" dirty="0">
                <a:solidFill>
                  <a:srgbClr val="D3E4F4"/>
                </a:solidFill>
              </a:rPr>
              <a:t>74 peripheral zones are persistently under-served, and they are where waits worsened most.
</a:t>
            </a:r>
            <a:pPr indent="0" marL="0">
              <a:buNone/>
            </a:pPr>
            <a:r>
              <a:rPr lang="en-US" sz="1500" i="1" dirty="0">
                <a:solidFill>
                  <a:srgbClr val="9FB4D4"/>
                </a:solidFill>
              </a:rPr>
              <a:t>github.com/caie007/savannahgishon</a:t>
            </a:r>
            <a:endParaRPr lang="en-US" sz="1500" dirty="0"/>
          </a:p>
        </p:txBody>
      </p:sp>
    </p:spTree>
  </p:cSld>
  <p:clrMapOvr>
    <a:masterClrMapping/>
  </p:clrMapOvr>
</p:sld>
</file>

<file path=ppt/theme/theme1.xml><?xml version="1.0" encoding="utf-8"?>
<a:theme xmlns:a="http://schemas.openxmlformats.org/drawingml/2006/main" name="University of Pretoria">
  <a:themeElements>
    <a:clrScheme name="University of Pretoria">
      <a:dk1>
        <a:srgbClr val="1A1A1A"/>
      </a:dk1>
      <a:lt1>
        <a:srgbClr val="FFFFFF"/>
      </a:lt1>
      <a:dk2>
        <a:srgbClr val="003A6F"/>
      </a:dk2>
      <a:lt2>
        <a:srgbClr val="E8F0F8"/>
      </a:lt2>
      <a:accent1>
        <a:srgbClr val="055BAA"/>
      </a:accent1>
      <a:accent2>
        <a:srgbClr val="C0504D"/>
      </a:accent2>
      <a:accent3>
        <a:srgbClr val="2E8B8B"/>
      </a:accent3>
      <a:accent4>
        <a:srgbClr val="E0A33E"/>
      </a:accent4>
      <a:accent5>
        <a:srgbClr val="003A6F"/>
      </a:accent5>
      <a:accent6>
        <a:srgbClr val="6B8CA8"/>
      </a:accent6>
      <a:hlink>
        <a:srgbClr val="055BAA"/>
      </a:hlink>
      <a:folHlink>
        <a:srgbClr val="6B8CA8"/>
      </a:folHlink>
    </a:clrScheme>
    <a:fontScheme name="University of Pretori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MIT 805 Part 1 and Part 2 - NYC HVFHV</dc:title>
  <dc:subject>PptxGenJS Presentation</dc:subject>
  <dc:creator>Gishon K Gwenzi; Letsoba Savannah Mabe</dc:creator>
  <cp:lastModifiedBy>Gishon K Gwenzi; Letsoba Savannah Mabe</cp:lastModifiedBy>
  <cp:revision>1</cp:revision>
  <dcterms:created xsi:type="dcterms:W3CDTF">2026-10-08T09:10:43Z</dcterms:created>
  <dcterms:modified xsi:type="dcterms:W3CDTF">2026-10-08T09:10:43Z</dcterms:modified>
</cp:coreProperties>
</file>